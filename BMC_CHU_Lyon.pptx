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46304"/>
            <a:ext cx="11640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Canvas — Hospices Civils de Lyon (CHU de Lyon)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74320" y="530352"/>
            <a:ext cx="11640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d’intégration de la solution data : </a:t>
            </a:r>
            <a:pPr algn="l" indent="0" marL="0">
              <a:buNone/>
            </a:pPr>
            <a:r>
              <a:rPr lang="en-US" sz="1100" b="1" dirty="0">
                <a:solidFill>
                  <a:srgbClr val="0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pré-lecture IA des radiographies thoraciques</a:t>
            </a:r>
            <a:pPr algn="l" indent="0" marL="0">
              <a:buNone/>
            </a:pPr>
            <a:r>
              <a:rPr lang="en-US" sz="1100" dirty="0">
                <a:solidFill>
                  <a:srgbClr val="6B7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(besoin interne du pôle imagerie, au bénéfice des patients)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877824"/>
            <a:ext cx="2221992" cy="4215384"/>
          </a:xfrm>
          <a:prstGeom prst="roundRect">
            <a:avLst>
              <a:gd name="adj" fmla="val 2469"/>
            </a:avLst>
          </a:prstGeom>
          <a:solidFill>
            <a:srgbClr val="EEF3F4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9BB0B5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941832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Partenaires clés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84048" y="1261872"/>
            <a:ext cx="2039112" cy="3758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Université Claude Bernard Lyon 1</a:t>
            </a:r>
            <a:endParaRPr lang="en-US" sz="9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 Auvergne-Rhône-Alpes, Assurance Maladie</a:t>
            </a:r>
            <a:endParaRPr lang="en-US" sz="9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GHT Rhône Centre, hôpitaux partenaires</a:t>
            </a:r>
            <a:endParaRPr lang="en-US" sz="9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INSERM / CNRS (recherche)</a:t>
            </a:r>
            <a:endParaRPr lang="en-US" sz="9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Éditeurs SIH / PACS (ex. Dedalus), IA médicale, fabricants d’imagerie</a:t>
            </a:r>
            <a:endParaRPr lang="en-US" sz="9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Hébergeurs de données de santé (HDS), Fondation HCL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69464" y="877824"/>
            <a:ext cx="2221992" cy="2071116"/>
          </a:xfrm>
          <a:prstGeom prst="roundRect">
            <a:avLst>
              <a:gd name="adj" fmla="val 2649"/>
            </a:avLst>
          </a:prstGeom>
          <a:solidFill>
            <a:srgbClr val="EEF3F4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9BB0B5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79192" y="941832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Activités clés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679192" y="1261872"/>
            <a:ext cx="2039112" cy="1613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&amp; soins (MCO, urgences)</a:t>
            </a:r>
            <a:endParaRPr lang="en-US" sz="9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Imagerie &amp; biologie médicale</a:t>
            </a:r>
            <a:endParaRPr lang="en-US" sz="9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Chirurgie, blocs opératoires</a:t>
            </a:r>
            <a:endParaRPr lang="en-US" sz="9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clinique &amp; enseignement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69464" y="3022092"/>
            <a:ext cx="2221992" cy="2071116"/>
          </a:xfrm>
          <a:prstGeom prst="roundRect">
            <a:avLst>
              <a:gd name="adj" fmla="val 2649"/>
            </a:avLst>
          </a:prstGeom>
          <a:solidFill>
            <a:srgbClr val="EEF3F4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9BB0B5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79192" y="3086100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clés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79192" y="3406140"/>
            <a:ext cx="2039112" cy="1613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24 000 professionnels</a:t>
            </a:r>
            <a:endParaRPr lang="en-US" sz="9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hôpitaux, plateau technique (scanners, IRM, automates)</a:t>
            </a:r>
            <a:endParaRPr lang="en-US" sz="9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de santé massives + SIH / PACS / SIL</a:t>
            </a:r>
            <a:endParaRPr lang="en-US" sz="9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 médicale &amp; académique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64608" y="877824"/>
            <a:ext cx="2459736" cy="4215384"/>
          </a:xfrm>
          <a:prstGeom prst="roundRect">
            <a:avLst>
              <a:gd name="adj" fmla="val 2230"/>
            </a:avLst>
          </a:prstGeom>
          <a:solidFill>
            <a:srgbClr val="D6EAE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9BB0B5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74336" y="9418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 de valeur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974336" y="1261872"/>
            <a:ext cx="2276856" cy="3758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Médecine de référence et d’excellence, accessible à tous</a:t>
            </a:r>
            <a:endParaRPr lang="en-US" sz="9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fiable et rapide</a:t>
            </a:r>
            <a:endParaRPr lang="en-US" sz="9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Prise en charge des cas complexes</a:t>
            </a:r>
            <a:endParaRPr lang="en-US" sz="9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: médecine de précision &amp; IA (« HCL 2035 »)</a:t>
            </a:r>
            <a:endParaRPr lang="en-US" sz="9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Enseignement et recherche de premier plan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97496" y="877824"/>
            <a:ext cx="2221992" cy="2071116"/>
          </a:xfrm>
          <a:prstGeom prst="roundRect">
            <a:avLst>
              <a:gd name="adj" fmla="val 2649"/>
            </a:avLst>
          </a:prstGeom>
          <a:solidFill>
            <a:srgbClr val="EEF3F4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9BB0B5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507224" y="941832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 client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507224" y="1261872"/>
            <a:ext cx="2039112" cy="1613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 médecin-patient personnalisée</a:t>
            </a:r>
            <a:endParaRPr lang="en-US" sz="9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de soins coordonné</a:t>
            </a:r>
            <a:endParaRPr lang="en-US" sz="9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des usagers (CDU)</a:t>
            </a:r>
            <a:endParaRPr lang="en-US" sz="9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via DPI / portail patient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97496" y="3022092"/>
            <a:ext cx="2221992" cy="2071116"/>
          </a:xfrm>
          <a:prstGeom prst="roundRect">
            <a:avLst>
              <a:gd name="adj" fmla="val 2649"/>
            </a:avLst>
          </a:prstGeom>
          <a:solidFill>
            <a:srgbClr val="EEF3F4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9BB0B5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507224" y="3086100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Canaux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507224" y="3406140"/>
            <a:ext cx="2039112" cy="1613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hôpitaux &amp; sites</a:t>
            </a:r>
            <a:endParaRPr lang="en-US" sz="9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Urgences / SAMU 69</a:t>
            </a:r>
            <a:endParaRPr lang="en-US" sz="9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Consultations &amp; téléconsultation</a:t>
            </a:r>
            <a:endParaRPr lang="en-US" sz="9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Plateformes numériques (DPI, portail), téléradiologie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692640" y="877824"/>
            <a:ext cx="2221992" cy="4215384"/>
          </a:xfrm>
          <a:prstGeom prst="roundRect">
            <a:avLst>
              <a:gd name="adj" fmla="val 2469"/>
            </a:avLst>
          </a:prstGeom>
          <a:solidFill>
            <a:srgbClr val="EEF3F4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9BB0B5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802368" y="941832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de clientèle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802368" y="1261872"/>
            <a:ext cx="2039112" cy="3758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: urgences, hospitalisés, consultations externes</a:t>
            </a:r>
            <a:endParaRPr lang="en-US" sz="9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Médecins prescripteurs de ville</a:t>
            </a:r>
            <a:endParaRPr lang="en-US" sz="9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Établissements partenaires (GHT)</a:t>
            </a:r>
            <a:endParaRPr lang="en-US" sz="9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Étudiants &amp; communauté de recherche</a:t>
            </a:r>
            <a:endParaRPr lang="en-US" sz="9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Bénéficiaires de la solution data : radiologues &amp; cliniciens (interne)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5166360"/>
            <a:ext cx="5783580" cy="1417320"/>
          </a:xfrm>
          <a:prstGeom prst="roundRect">
            <a:avLst>
              <a:gd name="adj" fmla="val 3871"/>
            </a:avLst>
          </a:prstGeom>
          <a:solidFill>
            <a:srgbClr val="EEF3F4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9BB0B5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84048" y="5230368"/>
            <a:ext cx="5564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de coûts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84048" y="5550408"/>
            <a:ext cx="56007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Masse salariale ≈ 1,4 Md€ (poste principal)</a:t>
            </a:r>
            <a:endParaRPr lang="en-US" sz="9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Achats &amp; produits de santé (~0,6 Md€)</a:t>
            </a:r>
            <a:endParaRPr lang="en-US" sz="9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 technique &amp; maintenance</a:t>
            </a:r>
            <a:endParaRPr lang="en-US" sz="9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d’information &amp; investissements (~140 M€)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31052" y="5166360"/>
            <a:ext cx="5783580" cy="1417320"/>
          </a:xfrm>
          <a:prstGeom prst="roundRect">
            <a:avLst>
              <a:gd name="adj" fmla="val 3871"/>
            </a:avLst>
          </a:prstGeom>
          <a:solidFill>
            <a:srgbClr val="EEF3F4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5400000">
              <a:srgbClr val="9BB0B5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240780" y="5230368"/>
            <a:ext cx="5564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de revenus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240780" y="5550408"/>
            <a:ext cx="56007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Tarification à l’activité (T2A) – Assurance Maladie</a:t>
            </a:r>
            <a:endParaRPr lang="en-US" sz="9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Dotations MIGAC / MERRI</a:t>
            </a:r>
            <a:endParaRPr lang="en-US" sz="9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Dotations &amp; contrats de recherche (144 M€)</a:t>
            </a:r>
            <a:endParaRPr lang="en-US" sz="9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Subventions État / ARS, mécénat (Fondation HCL)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74320" y="6620256"/>
            <a:ext cx="11640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7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Chiffres clés HCL 2024 — modèle économique d’un CHU public (établissement à mission de service public).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Model Canvas - Hospices Civils de Lyon</dc:title>
  <dc:subject>PptxGenJS Presentation</dc:subject>
  <dc:creator>Projet DPM - CHU Lyon</dc:creator>
  <cp:lastModifiedBy>Projet DPM - CHU Lyon</cp:lastModifiedBy>
  <cp:revision>1</cp:revision>
  <dcterms:created xsi:type="dcterms:W3CDTF">2026-06-23T20:29:19Z</dcterms:created>
  <dcterms:modified xsi:type="dcterms:W3CDTF">2026-06-23T20:29:19Z</dcterms:modified>
</cp:coreProperties>
</file>
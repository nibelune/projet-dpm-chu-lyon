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  <p:embeddedFont>
      <p:font typeface="Work Sans Medium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  <p:embeddedFont>
      <p:font typeface="Urbanist Black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80E31B-9425-4852-89EC-D52994E7B71A}">
  <a:tblStyle styleId="{7280E31B-9425-4852-89EC-D52994E7B7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Black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UrbanistBlack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Inter-bold.fntdata"/><Relationship Id="rId25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Inter-regular.fntdata"/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3" Type="http://schemas.openxmlformats.org/officeDocument/2006/relationships/font" Target="fonts/WorkSansMedium-bold.fntdata"/><Relationship Id="rId12" Type="http://schemas.openxmlformats.org/officeDocument/2006/relationships/font" Target="fonts/WorkSansMedium-regular.fntdata"/><Relationship Id="rId15" Type="http://schemas.openxmlformats.org/officeDocument/2006/relationships/font" Target="fonts/WorkSansMedium-boldItalic.fntdata"/><Relationship Id="rId14" Type="http://schemas.openxmlformats.org/officeDocument/2006/relationships/font" Target="fonts/WorkSansMedium-italic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19" Type="http://schemas.openxmlformats.org/officeDocument/2006/relationships/font" Target="fonts/Urbanist-boldItalic.fntdata"/><Relationship Id="rId18" Type="http://schemas.openxmlformats.org/officeDocument/2006/relationships/font" Target="fonts/Urbanis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c4992d8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c4992d8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M - Texte &amp; Image / Fond Clair 13">
  <p:cSld name="TITLE_AND_BODY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943350" y="2571750"/>
            <a:ext cx="7257300" cy="18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/>
          <p:nvPr>
            <p:ph idx="3" type="pic"/>
          </p:nvPr>
        </p:nvSpPr>
        <p:spPr>
          <a:xfrm>
            <a:off x="943350" y="700500"/>
            <a:ext cx="72573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solidFill>
          <a:srgbClr val="E8E3D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8330" y="403365"/>
            <a:ext cx="467323" cy="357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263" y="4337565"/>
            <a:ext cx="1143607" cy="22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0579" y="4002409"/>
            <a:ext cx="467330" cy="29334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4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600" lIns="76600" spcFirstLastPara="1" rIns="76600" wrap="square" tIns="76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rbanist Black"/>
              <a:buNone/>
              <a:defRPr sz="36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B - Transition avec forme">
  <p:cSld name="CUSTOM_1_1">
    <p:bg>
      <p:bgPr>
        <a:solidFill>
          <a:schemeClr val="dk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61999" y="2571751"/>
            <a:ext cx="5989426" cy="29637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198000" y="198000"/>
            <a:ext cx="8748000" cy="454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Work Sans Medium"/>
              <a:buNone/>
              <a:defRPr sz="36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None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16"/>
          <p:cNvGraphicFramePr/>
          <p:nvPr/>
        </p:nvGraphicFramePr>
        <p:xfrm>
          <a:off x="819100" y="166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{7280E31B-9425-4852-89EC-D52994E7B71A}</a:tableStyleId>
              </a:tblPr>
              <a:tblGrid>
                <a:gridCol w="1718275"/>
                <a:gridCol w="2140975"/>
                <a:gridCol w="2173450"/>
                <a:gridCol w="2173450"/>
              </a:tblGrid>
              <a:tr h="164150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Synthèse de la Discovery</a:t>
                      </a:r>
                      <a:endParaRPr b="1" sz="10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33"/>
                    </a:solidFill>
                  </a:tcPr>
                </a:tc>
                <a:tc hMerge="1"/>
                <a:tc hMerge="1"/>
                <a:tc hMerge="1"/>
              </a:tr>
              <a:tr h="19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1 </a:t>
                      </a:r>
                      <a:r>
                        <a:rPr i="1" lang="fr" sz="7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7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2</a:t>
                      </a:r>
                      <a:r>
                        <a:rPr b="1" lang="fr" sz="7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i="1" lang="fr" sz="7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7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3 </a:t>
                      </a:r>
                      <a:r>
                        <a:rPr i="1" lang="fr" sz="7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7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745"/>
                    </a:solidFill>
                  </a:tcPr>
                </a:tc>
              </a:tr>
              <a:tr h="785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What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Décrire le problème ou ses sous-problèmes.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4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Who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Quels utilisateurs / personas sont concernés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lang="fr" sz="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</a:t>
                      </a:r>
                      <a:endParaRPr sz="7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Why &amp; how much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t/>
                      </a:r>
                      <a:endParaRPr b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Pourquoi résoudre ce problème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Quel est son impact (business / utilisateur)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Peut-on le quantifier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Solutions de contournement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t/>
                      </a:r>
                      <a:endParaRPr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Comment les utilisateurs s’adaptent aujourd’hui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Existe-t-il des solutions informelles (shadow IT) ?</a:t>
                      </a:r>
                      <a:endParaRPr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What value</a:t>
                      </a:r>
                      <a:r>
                        <a:rPr b="1" lang="fr" sz="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endParaRPr b="1" sz="8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t/>
                      </a:r>
                      <a:endParaRPr b="1"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Quelle valeur apporte la résolution du problème ?</a:t>
                      </a:r>
                      <a:endParaRPr b="1" i="1"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5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7775" marB="7775" marR="26875" marL="26875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Converger vers les solutions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1</a:t>
                      </a:r>
                      <a:r>
                        <a:rPr b="1"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endParaRPr b="1"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i="1" sz="6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3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</a:t>
                      </a:r>
                      <a:r>
                        <a:rPr b="1" lang="fr" sz="8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 sz="8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i="1"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b="1" sz="6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3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</a:t>
                      </a:r>
                      <a:r>
                        <a:rPr b="1" lang="fr" sz="8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 sz="8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i="1" lang="fr" sz="6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b="1" sz="6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3D4"/>
                    </a:solidFill>
                  </a:tcPr>
                </a:tc>
              </a:tr>
              <a:tr h="588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Solution possibles</a:t>
                      </a:r>
                      <a:endParaRPr b="1" sz="10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19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7775" marB="7775" marR="26875" marL="26875" anchor="ctr">
                    <a:lnL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8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1" name="Google Shape;71;p16"/>
          <p:cNvSpPr/>
          <p:nvPr/>
        </p:nvSpPr>
        <p:spPr>
          <a:xfrm flipH="1">
            <a:off x="7149600" y="3850800"/>
            <a:ext cx="1994400" cy="1292700"/>
          </a:xfrm>
          <a:prstGeom prst="homePlate">
            <a:avLst>
              <a:gd fmla="val 50000" name="adj"/>
            </a:avLst>
          </a:prstGeom>
          <a:solidFill>
            <a:srgbClr val="2A8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Ce document fournit une structure type. À vous de déterminer la charte graphique et la mise en page adaptées.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
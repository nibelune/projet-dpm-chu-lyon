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10725912" cy="2468880"/>
          </a:xfrm>
          <a:prstGeom prst="roundRect">
            <a:avLst>
              <a:gd name="adj" fmla="val 4444"/>
            </a:avLst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1691640"/>
            <a:ext cx="457200" cy="548640"/>
          </a:xfrm>
          <a:prstGeom prst="roundRect">
            <a:avLst>
              <a:gd name="adj" fmla="val 16000"/>
            </a:avLst>
          </a:prstGeom>
          <a:solidFill>
            <a:srgbClr val="0E8FA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DPM : CHU de Lyon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RadioPredict — Pré-lecture IA des radiographies thoraciques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10725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</a:t>
            </a:r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[Votre équipe]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: </a:t>
            </a:r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[Mentor]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: </a:t>
            </a:r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 Manager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Hospices Civils de Lyon · 2ᵉ CHU de France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841248"/>
          </a:xfrm>
          <a:prstGeom prst="roundRect">
            <a:avLst>
              <a:gd name="adj" fmla="val 10870"/>
            </a:avLst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" y="493776"/>
            <a:ext cx="310896" cy="365760"/>
          </a:xfrm>
          <a:prstGeom prst="roundRect">
            <a:avLst>
              <a:gd name="adj" fmla="val 20588"/>
            </a:avLst>
          </a:prstGeom>
          <a:solidFill>
            <a:srgbClr val="0E8FA8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56032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676656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444752"/>
            <a:ext cx="6437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CHU de Lyon (HCL) face à la pression diagnostique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1792" y="1874520"/>
            <a:ext cx="649224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2ᵉ CHU de France : 24 000 professionnels, 13 hôpitaux.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nombreuses analyses (imagerie, biologie) sont réalisées et interprétées en partie manuellement → longues et sujettes à variabilité.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demande + pénurie de radiologues : les délais s'allongent.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stratégique « HCL 2035 » mise sur l'IA et la médecine de précision.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06640" y="1325880"/>
            <a:ext cx="4297680" cy="3200400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71232" y="1444752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571232" y="1874520"/>
            <a:ext cx="402336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Identifier, à partir des besoins utilisateurs et des données, une problématique pertinente.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une solution data structurée pour gagner en rapidité et en fiabilité du diagnostic.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4754880"/>
            <a:ext cx="2640330" cy="1371600"/>
          </a:xfrm>
          <a:prstGeom prst="roundRect">
            <a:avLst>
              <a:gd name="adj" fmla="val 5333"/>
            </a:avLst>
          </a:prstGeom>
          <a:solidFill>
            <a:srgbClr val="E4F2F6"/>
          </a:solidFill>
          <a:ln w="12700">
            <a:solidFill>
              <a:srgbClr val="0E8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892040"/>
            <a:ext cx="25488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562 678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0352" y="5486400"/>
            <a:ext cx="24940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examens d'imagerie / 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26130" y="4754880"/>
            <a:ext cx="2640330" cy="1371600"/>
          </a:xfrm>
          <a:prstGeom prst="roundRect">
            <a:avLst>
              <a:gd name="adj" fmla="val 5333"/>
            </a:avLst>
          </a:prstGeom>
          <a:solidFill>
            <a:srgbClr val="E4F2F6"/>
          </a:solidFill>
          <a:ln w="12700">
            <a:solidFill>
              <a:srgbClr val="0E8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1850" y="4892040"/>
            <a:ext cx="25488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278 303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99282" y="5486400"/>
            <a:ext cx="24940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radiographies / 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95060" y="4754880"/>
            <a:ext cx="2640330" cy="1371600"/>
          </a:xfrm>
          <a:prstGeom prst="roundRect">
            <a:avLst>
              <a:gd name="adj" fmla="val 5333"/>
            </a:avLst>
          </a:prstGeom>
          <a:solidFill>
            <a:srgbClr val="E4F2F6"/>
          </a:solidFill>
          <a:ln w="12700">
            <a:solidFill>
              <a:srgbClr val="0E8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0780" y="4892040"/>
            <a:ext cx="25488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9 342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68212" y="5486400"/>
            <a:ext cx="24940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radiologues en France (2025)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63990" y="4754880"/>
            <a:ext cx="2640330" cy="1371600"/>
          </a:xfrm>
          <a:prstGeom prst="roundRect">
            <a:avLst>
              <a:gd name="adj" fmla="val 5333"/>
            </a:avLst>
          </a:prstGeom>
          <a:solidFill>
            <a:srgbClr val="E4F2F6"/>
          </a:solidFill>
          <a:ln w="12700">
            <a:solidFill>
              <a:srgbClr val="0E8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9710" y="4892040"/>
            <a:ext cx="25488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0,38–0,53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37142" y="5486400"/>
            <a:ext cx="24940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 inter-observateur (radio)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DPM — CHU de Lyon · RadioPredict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972800" y="652881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841248"/>
          </a:xfrm>
          <a:prstGeom prst="roundRect">
            <a:avLst>
              <a:gd name="adj" fmla="val 10870"/>
            </a:avLst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" y="493776"/>
            <a:ext cx="310896" cy="365760"/>
          </a:xfrm>
          <a:prstGeom prst="roundRect">
            <a:avLst>
              <a:gd name="adj" fmla="val 20588"/>
            </a:avLst>
          </a:prstGeom>
          <a:solidFill>
            <a:srgbClr val="0E8FA8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56032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— Hospices Civils de Lyon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3697224" cy="4846320"/>
          </a:xfrm>
          <a:prstGeom prst="roundRect">
            <a:avLst>
              <a:gd name="adj" fmla="val 17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490472"/>
            <a:ext cx="336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Bénéficiaires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38912" y="1920240"/>
            <a:ext cx="3422904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: urgences, hospitalisés, consultations externes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Médecins prescripteurs de ville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partenaires (GHT Rhône Centre)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&amp; communauté de recherche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Bénéficiaires internes : radiologues &amp; cliniciens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45864" y="1371600"/>
            <a:ext cx="3697224" cy="4846320"/>
          </a:xfrm>
          <a:prstGeom prst="roundRect">
            <a:avLst>
              <a:gd name="adj" fmla="val 17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10456" y="1490472"/>
            <a:ext cx="336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Activités &amp; ressources clés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410456" y="1920240"/>
            <a:ext cx="3422904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&amp; soins (imagerie, biologie, urgences)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clinique &amp; enseignement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24 000 professionnels · 13 hôpitaux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technique (scanners, IRM, automates)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de santé massives · PACS / SIH / SIL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17408" y="1371600"/>
            <a:ext cx="3697224" cy="4846320"/>
          </a:xfrm>
          <a:prstGeom prst="roundRect">
            <a:avLst>
              <a:gd name="adj" fmla="val 17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82000" y="1490472"/>
            <a:ext cx="336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&amp; coûts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382000" y="1920240"/>
            <a:ext cx="3422904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Tarification à l'activité (T2A) — Assurance Maladie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Dotations MIGAC / MERRI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: 144 M€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salariale ≈ 1,4 Md€ (poste principal)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technique, système d'information, investissements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DPM — CHU de Lyon · RadioPredict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972800" y="652881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841248"/>
          </a:xfrm>
          <a:prstGeom prst="roundRect">
            <a:avLst>
              <a:gd name="adj" fmla="val 10870"/>
            </a:avLst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" y="493776"/>
            <a:ext cx="310896" cy="365760"/>
          </a:xfrm>
          <a:prstGeom prst="roundRect">
            <a:avLst>
              <a:gd name="adj" fmla="val 20588"/>
            </a:avLst>
          </a:prstGeom>
          <a:solidFill>
            <a:srgbClr val="0E8FA8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56032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1 : Dr Camille Rivière — Radiologue thoracique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468880" cy="2057400"/>
          </a:xfrm>
          <a:prstGeom prst="roundRect">
            <a:avLst>
              <a:gd name="adj" fmla="val 3556"/>
            </a:avLst>
          </a:prstGeom>
          <a:solidFill>
            <a:srgbClr val="F0F4F6"/>
          </a:solidFill>
          <a:ln w="12700">
            <a:solidFill>
              <a:srgbClr val="D5DE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468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611880"/>
            <a:ext cx="2468880" cy="2606040"/>
          </a:xfrm>
          <a:prstGeom prst="roundRect">
            <a:avLst>
              <a:gd name="adj" fmla="val 2963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3767328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: Camille Rivière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: Radiologue (PH)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: 44 ans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Lieu : Hôpital de la Croix-Rousse (HCL)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: 15 ans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08960" y="1371600"/>
            <a:ext cx="8622792" cy="713232"/>
          </a:xfrm>
          <a:prstGeom prst="roundRect">
            <a:avLst>
              <a:gd name="adj" fmla="val 10256"/>
            </a:avLst>
          </a:prstGeom>
          <a:solidFill>
            <a:srgbClr val="0E8FA8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37160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problème n'est pas de lire une radio, c'est de toutes les lire à temps, sans rien rater. »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8960" y="2240280"/>
            <a:ext cx="8622792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73552" y="2359152"/>
            <a:ext cx="8293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73552" y="2788920"/>
            <a:ext cx="8348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Comptes-rendus fiables et rapides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manquer aucun signe critique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Prioriser les cas graves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0" y="3611880"/>
            <a:ext cx="4224528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73552" y="3730752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 (pain points)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273552" y="4160520"/>
            <a:ext cx="3950208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Surcharge liée à la pénurie de radiologues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d'attente PACS non triée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→ variabilité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Délais qui s'allongent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507224" y="3611880"/>
            <a:ext cx="4224528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71816" y="3730752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671816" y="4160520"/>
            <a:ext cx="3950208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file priorisée à l'arrivée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aide à la détection des signes critiques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pré-lecture pour accélérer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outil intégré au PACS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DPM — CHU de Lyon · RadioPredict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972800" y="652881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841248"/>
          </a:xfrm>
          <a:prstGeom prst="roundRect">
            <a:avLst>
              <a:gd name="adj" fmla="val 10870"/>
            </a:avLst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" y="493776"/>
            <a:ext cx="310896" cy="365760"/>
          </a:xfrm>
          <a:prstGeom prst="roundRect">
            <a:avLst>
              <a:gd name="adj" fmla="val 20588"/>
            </a:avLst>
          </a:prstGeom>
          <a:solidFill>
            <a:srgbClr val="0E8FA8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56032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2 : Dr Karim Benali — Biologiste médical (hématologie)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468880" cy="2057400"/>
          </a:xfrm>
          <a:prstGeom prst="roundRect">
            <a:avLst>
              <a:gd name="adj" fmla="val 3556"/>
            </a:avLst>
          </a:prstGeom>
          <a:solidFill>
            <a:srgbClr val="F0F4F6"/>
          </a:solidFill>
          <a:ln w="12700">
            <a:solidFill>
              <a:srgbClr val="D5DE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468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611880"/>
            <a:ext cx="2468880" cy="2606040"/>
          </a:xfrm>
          <a:prstGeom prst="roundRect">
            <a:avLst>
              <a:gd name="adj" fmla="val 2963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3767328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: Karim Benali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: Biologiste médical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: 38 ans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Lieu : Hôpital Lyon Sud (HCL)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Spécialité : hématologie cellulaire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08960" y="1371600"/>
            <a:ext cx="8622792" cy="713232"/>
          </a:xfrm>
          <a:prstGeom prst="roundRect">
            <a:avLst>
              <a:gd name="adj" fmla="val 10256"/>
            </a:avLst>
          </a:prstGeom>
          <a:solidFill>
            <a:srgbClr val="0E8FA8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37160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L'automate compte, mais c'est l'œil humain qui repère le blaste. En pic, la file de lames devient le goulot. »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8960" y="2240280"/>
            <a:ext cx="8622792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73552" y="2359152"/>
            <a:ext cx="8293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73552" y="2788920"/>
            <a:ext cx="8348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les cellules pathologiques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le diagnostic de leucémie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Standardiser la formule leucocytaire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0" y="3611880"/>
            <a:ext cx="4224528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73552" y="3730752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 (pain points)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273552" y="4160520"/>
            <a:ext cx="3950208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manuelle chronophage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Variabilité inter-opérateurs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Goulot quand les alarmes s'accumulent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limitée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507224" y="3611880"/>
            <a:ext cx="4224528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71816" y="3730752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671816" y="4160520"/>
            <a:ext cx="3950208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pré-classification des cellules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aide à la détection des cellules anormales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compte-rendu structuré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Absorber les pics d'activité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DPM — CHU de Lyon · RadioPredict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972800" y="652881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841248"/>
          </a:xfrm>
          <a:prstGeom prst="roundRect">
            <a:avLst>
              <a:gd name="adj" fmla="val 10870"/>
            </a:avLst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" y="493776"/>
            <a:ext cx="310896" cy="365760"/>
          </a:xfrm>
          <a:prstGeom prst="roundRect">
            <a:avLst>
              <a:gd name="adj" fmla="val 20588"/>
            </a:avLst>
          </a:prstGeom>
          <a:solidFill>
            <a:srgbClr val="0E8FA8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56032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3 : Dr Sophie Marchand — Cardiologue / urgences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468880" cy="2057400"/>
          </a:xfrm>
          <a:prstGeom prst="roundRect">
            <a:avLst>
              <a:gd name="adj" fmla="val 3556"/>
            </a:avLst>
          </a:prstGeom>
          <a:solidFill>
            <a:srgbClr val="F0F4F6"/>
          </a:solidFill>
          <a:ln w="12700">
            <a:solidFill>
              <a:srgbClr val="D5DE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468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611880"/>
            <a:ext cx="2468880" cy="2606040"/>
          </a:xfrm>
          <a:prstGeom prst="roundRect">
            <a:avLst>
              <a:gd name="adj" fmla="val 2963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3767328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: Sophie Marchand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: Cardiologue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: 35 ans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Lieu : Hôpital Louis Pradel (HCL)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: gardes urgences cardio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08960" y="1371600"/>
            <a:ext cx="8622792" cy="713232"/>
          </a:xfrm>
          <a:prstGeom prst="roundRect">
            <a:avLst>
              <a:gd name="adj" fmla="val 10256"/>
            </a:avLst>
          </a:prstGeom>
          <a:solidFill>
            <a:srgbClr val="0E8FA8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37160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L'algorithme du chariot ECG se trompe trop souvent : il crie au loup ou il rate. Du coup je relis tout. »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8960" y="2240280"/>
            <a:ext cx="8622792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73552" y="2359152"/>
            <a:ext cx="8293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73552" y="2788920"/>
            <a:ext cx="8348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vite arythmie / infarctus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sur- ni sous-diagnostiquer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Fluidifier le tri des urgences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0" y="3611880"/>
            <a:ext cx="4224528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73552" y="3730752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 (pain points)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273552" y="4160520"/>
            <a:ext cx="3950208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Interprétations auto peu fiables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élevé en garde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Relecture systématique chronophage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médico-légal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507224" y="3611880"/>
            <a:ext cx="4224528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71816" y="3730752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671816" y="4160520"/>
            <a:ext cx="3950208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alerte IA fiable (FA, infarctus)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pré-analyse pour cibler la relecture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score de criticité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priorisation des ECG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DPM — CHU de Lyon · RadioPredict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972800" y="652881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841248"/>
          </a:xfrm>
          <a:prstGeom prst="roundRect">
            <a:avLst>
              <a:gd name="adj" fmla="val 10870"/>
            </a:avLst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" y="493776"/>
            <a:ext cx="310896" cy="365760"/>
          </a:xfrm>
          <a:prstGeom prst="roundRect">
            <a:avLst>
              <a:gd name="adj" fmla="val 20588"/>
            </a:avLst>
          </a:prstGeom>
          <a:solidFill>
            <a:srgbClr val="0E8FA8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56032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map — Dr Rivière (radiologue)</a:t>
            </a:r>
            <a:endParaRPr lang="en-US" sz="2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5743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687982"/>
                <a:gridCol w="1687982"/>
                <a:gridCol w="1687982"/>
                <a:gridCol w="1687982"/>
                <a:gridCol w="1687982"/>
                <a:gridCol w="168798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Prise de poste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 file PACS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 difficile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Compte-rendu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 de journée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8"/>
                    </a:solidFill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Voir la charge du jour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Repérer les urgences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Interpréter chaque radio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Trancher un doute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Restituer au clinicien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Vider la pile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non priorisée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 manuel, sans indicateur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 + interruptions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de 2ᵉ avis dispo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Délai de dictée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pile n'est jamais vide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Ressenti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7C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A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7C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A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Plutôt 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989320"/>
            <a:ext cx="11457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: la friction se concentre sur le tri / la priorisation et la lecture manuelle sous charge, surtout aux pics d'activité.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DPM — CHU de Lyon · RadioPredict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972800" y="652881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841248"/>
          </a:xfrm>
          <a:prstGeom prst="roundRect">
            <a:avLst>
              <a:gd name="adj" fmla="val 10870"/>
            </a:avLst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" y="493776"/>
            <a:ext cx="310896" cy="365760"/>
          </a:xfrm>
          <a:prstGeom prst="roundRect">
            <a:avLst>
              <a:gd name="adj" fmla="val 20588"/>
            </a:avLst>
          </a:prstGeom>
          <a:solidFill>
            <a:srgbClr val="0E8FA8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56032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map — Dr Benali (biologiste hématologie)</a:t>
            </a:r>
            <a:endParaRPr lang="en-US" sz="2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5743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687982"/>
                <a:gridCol w="1687982"/>
                <a:gridCol w="1687982"/>
                <a:gridCol w="1687982"/>
                <a:gridCol w="1687982"/>
                <a:gridCol w="168798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Réception alarmes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de lames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Microscope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 suspect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 d'activité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8"/>
                    </a:solidFill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Récupérer les frottis signalés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Organiser la relecture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Examiner la morphologie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Confirmer des blastes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Valider la formule &amp; le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Tenir les délais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Beaucoup d'alarmes à trier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qui s'accumule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Revue lame par lame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Variabilité, double lecture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Traçabilité limitée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Délai de rendu qui explose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Ressenti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Plutôt 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A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7C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A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Plutôt 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989320"/>
            <a:ext cx="11457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: la friction se concentre sur le tri / la priorisation et la lecture manuelle sous charge, surtout aux pics d'activité.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DPM — CHU de Lyon · RadioPredict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972800" y="652881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841248"/>
          </a:xfrm>
          <a:prstGeom prst="roundRect">
            <a:avLst>
              <a:gd name="adj" fmla="val 10870"/>
            </a:avLst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" y="493776"/>
            <a:ext cx="310896" cy="365760"/>
          </a:xfrm>
          <a:prstGeom prst="roundRect">
            <a:avLst>
              <a:gd name="adj" fmla="val 20588"/>
            </a:avLst>
          </a:prstGeom>
          <a:solidFill>
            <a:srgbClr val="0E8FA8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56032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map — Dr Marchand (cardiologue urgences)</a:t>
            </a:r>
            <a:endParaRPr lang="en-US" sz="2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5743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687982"/>
                <a:gridCol w="1687982"/>
                <a:gridCol w="1687982"/>
                <a:gridCol w="1687982"/>
                <a:gridCol w="1687982"/>
                <a:gridCol w="168798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Arrivée patient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auto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Décision / tri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en garde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8"/>
                    </a:solidFill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Réaliser l'ECG vite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Obtenir une 1ʳᵉ lecture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Confirmer le diagnostic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Trier l'urgence vitale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Gérer plusieurs cas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rien rater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Pression temporelle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 peu fiable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Relecture intégrale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Décision sous incertitude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 cognitive élevée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Crainte de rater un infarctus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Ressenti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7C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A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A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7C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A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989320"/>
            <a:ext cx="11457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: la friction se concentre sur le tri / la priorisation et la lecture manuelle sous charge, surtout aux pics d'activité.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DPM — CHU de Lyon · RadioPredict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972800" y="652881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841248"/>
          </a:xfrm>
          <a:prstGeom prst="roundRect">
            <a:avLst>
              <a:gd name="adj" fmla="val 10870"/>
            </a:avLst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" y="493776"/>
            <a:ext cx="310896" cy="365760"/>
          </a:xfrm>
          <a:prstGeom prst="roundRect">
            <a:avLst>
              <a:gd name="adj" fmla="val 20588"/>
            </a:avLst>
          </a:prstGeom>
          <a:solidFill>
            <a:srgbClr val="0E8FA8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56032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1 : Imagerie — délais &amp; variabilité de lecture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532120" cy="4160520"/>
          </a:xfrm>
          <a:prstGeom prst="roundRect">
            <a:avLst>
              <a:gd name="adj" fmla="val 1538"/>
            </a:avLst>
          </a:prstGeom>
          <a:solidFill>
            <a:srgbClr val="0B2545"/>
          </a:solidFill>
          <a:ln/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179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du problème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et surcharge de lecture des radiographies thoraciques ; file PACS non priorisée et variabilité inter-observateur.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concernés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081528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Rivière (radiologue)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Internes &amp; cliniciens prescripteurs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8313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de contournement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123944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manuel de la file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d'avis senior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supplémentaires, téléradiologie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99632" y="1371600"/>
            <a:ext cx="553212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9050">
            <a:solidFill>
              <a:srgbClr val="E2A33A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82512" y="15179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est-ce important 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82512" y="1828800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 de prise en charge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d'oubli de signes critiques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Épuisement des radiologues (pénurie)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82512" y="2971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mesuré / estimé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82512" y="3264408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278 303 radios/an aux HCL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modéré : kappa 0,38–0,53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9 342 radiologues (18,7 % &gt; 65 ans)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82512" y="41788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créée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82512" y="4471416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Rapidité + fiabilité du diagnostic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 des urgences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Soulagement RH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715000"/>
            <a:ext cx="11274552" cy="621792"/>
          </a:xfrm>
          <a:prstGeom prst="roundRect">
            <a:avLst>
              <a:gd name="adj" fmla="val 10294"/>
            </a:avLst>
          </a:prstGeom>
          <a:solidFill>
            <a:srgbClr val="E2A33A"/>
          </a:solidFill>
          <a:ln/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5715000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possible :  </a:t>
            </a:r>
            <a:pPr algn="ctr"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Pré-lecture / triage IA des radiographies thoraciques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DPM — CHU de Lyon · RadioPredict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972800" y="652881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841248"/>
          </a:xfrm>
          <a:prstGeom prst="roundRect">
            <a:avLst>
              <a:gd name="adj" fmla="val 10870"/>
            </a:avLst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" y="493776"/>
            <a:ext cx="310896" cy="365760"/>
          </a:xfrm>
          <a:prstGeom prst="roundRect">
            <a:avLst>
              <a:gd name="adj" fmla="val 20588"/>
            </a:avLst>
          </a:prstGeom>
          <a:solidFill>
            <a:srgbClr val="0E8FA8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56032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2 : Hématologie — revue des frottis chronophage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532120" cy="4160520"/>
          </a:xfrm>
          <a:prstGeom prst="roundRect">
            <a:avLst>
              <a:gd name="adj" fmla="val 1538"/>
            </a:avLst>
          </a:prstGeom>
          <a:solidFill>
            <a:srgbClr val="0B2545"/>
          </a:solidFill>
          <a:ln/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179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du problème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morphologique manuelle des frottis sanguins, chronophage et variable, avec un goulot sur les cas suspects.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concernés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081528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Benali (biologiste)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Techniciens de laboratoire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8313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de contournement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123944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lecture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 manuelle des lames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Renforts en période de pic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99632" y="1371600"/>
            <a:ext cx="553212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9050">
            <a:solidFill>
              <a:srgbClr val="E2A33A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82512" y="15179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est-ce important 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82512" y="1828800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diagnostic de leucémie dépend de la détection des cellules anormales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 de fiabilité et de rapidité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82512" y="2971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mesuré / estimé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82512" y="3264408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15,3 M actes de biologie/an aux HCL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Variabilité inter-opérateurs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Microscopie optique indispensable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82512" y="41788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créée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82512" y="4471416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Sécurisation du diagnostic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temps biologiste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715000"/>
            <a:ext cx="11274552" cy="621792"/>
          </a:xfrm>
          <a:prstGeom prst="roundRect">
            <a:avLst>
              <a:gd name="adj" fmla="val 10294"/>
            </a:avLst>
          </a:prstGeom>
          <a:solidFill>
            <a:srgbClr val="E2A33A"/>
          </a:solidFill>
          <a:ln/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5715000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possible :  </a:t>
            </a:r>
            <a:pPr algn="ctr"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Pré-classification IA des cellules sur frottis numérisé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DPM — CHU de Lyon · RadioPredict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972800" y="652881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841248"/>
          </a:xfrm>
          <a:prstGeom prst="roundRect">
            <a:avLst>
              <a:gd name="adj" fmla="val 10870"/>
            </a:avLst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" y="493776"/>
            <a:ext cx="310896" cy="365760"/>
          </a:xfrm>
          <a:prstGeom prst="roundRect">
            <a:avLst>
              <a:gd name="adj" fmla="val 20588"/>
            </a:avLst>
          </a:prstGeom>
          <a:solidFill>
            <a:srgbClr val="0E8FA8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56032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3 : Cardiologie — interprétation des ECG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532120" cy="4160520"/>
          </a:xfrm>
          <a:prstGeom prst="roundRect">
            <a:avLst>
              <a:gd name="adj" fmla="val 1538"/>
            </a:avLst>
          </a:prstGeom>
          <a:solidFill>
            <a:srgbClr val="0B2545"/>
          </a:solidFill>
          <a:ln/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179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du problème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 des ECG peu fiable en automatique, sous pression temporelle aux urgences.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concernés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081528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Marchand (cardiologue)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Médecins urgentistes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8313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de contournement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123944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Relecture systématique de l'ECG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Recours à un avis senior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Sur-orientation par prudence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99632" y="1371600"/>
            <a:ext cx="553212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9050">
            <a:solidFill>
              <a:srgbClr val="E2A33A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82512" y="15179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est-ce important 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82512" y="1828800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Rater un infarctus = risque vital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Sur-diagnostic = lits/examens mobilisés inutilement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82512" y="2971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mesuré / estimé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82512" y="3264408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: sur-diagnostic 28 %, sous-diagnostic 17 %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: jusqu'à 98,6 % de sensibilité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82512" y="41788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créée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82512" y="4471416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plus sûr des urgences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du risque d'erreur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temps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715000"/>
            <a:ext cx="11274552" cy="621792"/>
          </a:xfrm>
          <a:prstGeom prst="roundRect">
            <a:avLst>
              <a:gd name="adj" fmla="val 10294"/>
            </a:avLst>
          </a:prstGeom>
          <a:solidFill>
            <a:srgbClr val="E2A33A"/>
          </a:solidFill>
          <a:ln/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5715000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possible :  </a:t>
            </a:r>
            <a:pPr algn="ctr"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IA à la classification / alerte ECG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DPM — CHU de Lyon · RadioPredict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972800" y="652881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841248"/>
          </a:xfrm>
          <a:prstGeom prst="roundRect">
            <a:avLst>
              <a:gd name="adj" fmla="val 10870"/>
            </a:avLst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" y="493776"/>
            <a:ext cx="310896" cy="365760"/>
          </a:xfrm>
          <a:prstGeom prst="roundRect">
            <a:avLst>
              <a:gd name="adj" fmla="val 20588"/>
            </a:avLst>
          </a:prstGeom>
          <a:solidFill>
            <a:srgbClr val="0E8FA8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56032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commune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70916" y="146304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8076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Rivière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8076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3796" y="2286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vite et fiable, sans rater de signe critique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53412" y="3291840"/>
            <a:ext cx="18288" cy="548640"/>
          </a:xfrm>
          <a:prstGeom prst="rect">
            <a:avLst/>
          </a:prstGeom>
          <a:solidFill>
            <a:srgbClr val="0E8FA8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836" y="146304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39996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Benali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39996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Biologiste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85716" y="2286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le diagnostic malgré le goulot des lames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5332" y="3291840"/>
            <a:ext cx="18288" cy="548640"/>
          </a:xfrm>
          <a:prstGeom prst="rect">
            <a:avLst/>
          </a:prstGeom>
          <a:solidFill>
            <a:srgbClr val="0E8FA8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4756" y="146304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71916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Marchand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71916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17636" y="2286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Trier les urgences sans erreur sous pression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017252" y="3291840"/>
            <a:ext cx="18288" cy="548640"/>
          </a:xfrm>
          <a:prstGeom prst="rect">
            <a:avLst/>
          </a:prstGeom>
          <a:solidFill>
            <a:srgbClr val="0E8FA8"/>
          </a:solidFill>
          <a:ln/>
        </p:spPr>
      </p:sp>
      <p:sp>
        <p:nvSpPr>
          <p:cNvPr id="20" name="Shape 18"/>
          <p:cNvSpPr/>
          <p:nvPr/>
        </p:nvSpPr>
        <p:spPr>
          <a:xfrm>
            <a:off x="2162556" y="3822192"/>
            <a:ext cx="7863840" cy="18288"/>
          </a:xfrm>
          <a:prstGeom prst="rect">
            <a:avLst/>
          </a:prstGeom>
          <a:solidFill>
            <a:srgbClr val="0E8FA8"/>
          </a:solidFill>
          <a:ln/>
        </p:spPr>
      </p:sp>
      <p:sp>
        <p:nvSpPr>
          <p:cNvPr id="21" name="Shape 19"/>
          <p:cNvSpPr/>
          <p:nvPr/>
        </p:nvSpPr>
        <p:spPr>
          <a:xfrm>
            <a:off x="6085332" y="3822192"/>
            <a:ext cx="18288" cy="384048"/>
          </a:xfrm>
          <a:prstGeom prst="rect">
            <a:avLst/>
          </a:prstGeom>
          <a:solidFill>
            <a:srgbClr val="0E8FA8"/>
          </a:solidFill>
          <a:ln/>
        </p:spPr>
      </p:sp>
      <p:sp>
        <p:nvSpPr>
          <p:cNvPr id="22" name="Shape 20"/>
          <p:cNvSpPr/>
          <p:nvPr/>
        </p:nvSpPr>
        <p:spPr>
          <a:xfrm>
            <a:off x="2194560" y="4206240"/>
            <a:ext cx="7799832" cy="1600200"/>
          </a:xfrm>
          <a:prstGeom prst="roundRect">
            <a:avLst>
              <a:gd name="adj" fmla="val 4571"/>
            </a:avLst>
          </a:prstGeom>
          <a:solidFill>
            <a:srgbClr val="E4F2F6"/>
          </a:solidFill>
          <a:ln w="19050">
            <a:solidFill>
              <a:srgbClr val="0E8FA8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68880" y="4206240"/>
            <a:ext cx="72511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diagnostique repose sur une lecture humaine manuelle, non priorisée et soumise à variabilité qui — à fort volume et sous tension RH — allonge les délais et fragilise la fiabilité du diagnostic.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DPM — CHU de Lyon · RadioPredict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72800" y="652881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841248"/>
          </a:xfrm>
          <a:prstGeom prst="roundRect">
            <a:avLst>
              <a:gd name="adj" fmla="val 10870"/>
            </a:avLst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" y="493776"/>
            <a:ext cx="310896" cy="365760"/>
          </a:xfrm>
          <a:prstGeom prst="roundRect">
            <a:avLst>
              <a:gd name="adj" fmla="val 20588"/>
            </a:avLst>
          </a:prstGeom>
          <a:solidFill>
            <a:srgbClr val="0E8FA8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56032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— solutions existantes par domaine</a:t>
            </a:r>
            <a:endParaRPr lang="en-US" sz="2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5743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43251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Acteurs / solutions clés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qu'ils font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Imagerie thoracique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Gleamer ChestView (FR), Lunit, Annalise.ai, Qure.ai, Aidoc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Détection des signes thoraciques, triage ; marché mûr (CE/FDA)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Hématologie (frottis)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CellaVision (Sysmex), Scopio Labs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Numérisation + pré-classification des cellules ; matériel dédié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Cardiologie (ECG)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Cardiologs (Philips), AliveCor, PMcardio, Anumana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Détection d'arythmies / infarctus ; marché déjà très fourni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943600"/>
            <a:ext cx="11457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: l'imagerie thoracique est le domaine le plus mûr et le plus de-risqué, avec un leader français (Gleamer) déjà déployé en routine.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DPM — CHU de Lyon · RadioPredict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972800" y="652881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841248"/>
          </a:xfrm>
          <a:prstGeom prst="roundRect">
            <a:avLst>
              <a:gd name="adj" fmla="val 10870"/>
            </a:avLst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" y="493776"/>
            <a:ext cx="310896" cy="365760"/>
          </a:xfrm>
          <a:prstGeom prst="roundRect">
            <a:avLst>
              <a:gd name="adj" fmla="val 20588"/>
            </a:avLst>
          </a:prstGeom>
          <a:solidFill>
            <a:srgbClr val="0E8FA8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56032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de priorisation</a:t>
            </a:r>
            <a:endParaRPr lang="en-US" sz="2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57432" cy="914400"/>
        </p:xfrm>
        <a:graphic>
          <a:graphicData uri="http://schemas.openxmlformats.org/drawingml/2006/table">
            <a:tbl>
              <a:tblPr/>
              <a:tblGrid>
                <a:gridCol w="3044952"/>
                <a:gridCol w="1280160"/>
                <a:gridCol w="1097280"/>
                <a:gridCol w="1280160"/>
                <a:gridCol w="1280160"/>
                <a:gridCol w="1188720"/>
                <a:gridCol w="1097280"/>
                <a:gridCol w="118872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Amélioration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Croissance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 (-)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Pré-lecture IA radios thoraciques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Pré-classification IA frottis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Aide IA interprétation ECG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120640"/>
            <a:ext cx="11457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retenu — P1 : pré-lecture IA des radios thoraciques. </a:t>
            </a:r>
            <a:pPr indent="0" marL="0">
              <a:buNone/>
            </a:pPr>
            <a:r>
              <a:rPr lang="en-US" sz="115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&amp; impact maximal, alignement « HCL 2035 », effort maîtrisé (dataset public, classification d'images, benchmark mûr Gleamer).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65760" y="603504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(Satisfaction + Valeur + Efficience + Croissance) − Effort · notes 0 à 3.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7432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DPM — CHU de Lyon · RadioPredict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972800" y="652881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841248"/>
          </a:xfrm>
          <a:prstGeom prst="roundRect">
            <a:avLst>
              <a:gd name="adj" fmla="val 10870"/>
            </a:avLst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" y="493776"/>
            <a:ext cx="310896" cy="365760"/>
          </a:xfrm>
          <a:prstGeom prst="roundRect">
            <a:avLst>
              <a:gd name="adj" fmla="val 20588"/>
            </a:avLst>
          </a:prstGeom>
          <a:solidFill>
            <a:srgbClr val="0E8FA8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56032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— mesure de l'impact (avant / après)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2145182" cy="2468880"/>
          </a:xfrm>
          <a:prstGeom prst="roundRect">
            <a:avLst>
              <a:gd name="adj" fmla="val 3410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965960"/>
            <a:ext cx="19623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moyen de compte-rendu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2788920"/>
            <a:ext cx="19988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−40 %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1962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24–48 h (baseline)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93822" y="1828800"/>
            <a:ext cx="2145182" cy="2468880"/>
          </a:xfrm>
          <a:prstGeom prst="roundRect">
            <a:avLst>
              <a:gd name="adj" fmla="val 3410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85262" y="1965960"/>
            <a:ext cx="19623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lecture par radio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66974" y="2788920"/>
            <a:ext cx="19988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−30 %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85262" y="3703320"/>
            <a:ext cx="1962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~3–4 min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1885" y="1828800"/>
            <a:ext cx="2145182" cy="2468880"/>
          </a:xfrm>
          <a:prstGeom prst="roundRect">
            <a:avLst>
              <a:gd name="adj" fmla="val 3410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13325" y="1965960"/>
            <a:ext cx="19623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Sensibilité signes critiques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95037" y="2788920"/>
            <a:ext cx="19988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95 %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113325" y="3703320"/>
            <a:ext cx="1962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pneumothorax, foyer, nodule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49947" y="1828800"/>
            <a:ext cx="2145182" cy="2468880"/>
          </a:xfrm>
          <a:prstGeom prst="roundRect">
            <a:avLst>
              <a:gd name="adj" fmla="val 3410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41387" y="1965960"/>
            <a:ext cx="19623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relecture cas urgents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23099" y="2788920"/>
            <a:ext cx="19988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 h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441387" y="3703320"/>
            <a:ext cx="1962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arrivée PACS → relecture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678010" y="1828800"/>
            <a:ext cx="2145182" cy="2468880"/>
          </a:xfrm>
          <a:prstGeom prst="roundRect">
            <a:avLst>
              <a:gd name="adj" fmla="val 3410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769450" y="1965960"/>
            <a:ext cx="19623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utilisateurs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51162" y="2788920"/>
            <a:ext cx="19988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4 / 5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769450" y="3703320"/>
            <a:ext cx="1962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radiologues + prescripteurs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1, 2 et 5 mesurent le gain opérationnel et l'adoption ; KPI 3 et 4 garantissent que la fiabilité et la sécurité ne sont pas dégradées.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DPM — CHU de Lyon · RadioPredict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972800" y="652881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841248"/>
          </a:xfrm>
          <a:prstGeom prst="roundRect">
            <a:avLst>
              <a:gd name="adj" fmla="val 10870"/>
            </a:avLst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" y="493776"/>
            <a:ext cx="310896" cy="365760"/>
          </a:xfrm>
          <a:prstGeom prst="roundRect">
            <a:avLst>
              <a:gd name="adj" fmla="val 20588"/>
            </a:avLst>
          </a:prstGeom>
          <a:solidFill>
            <a:srgbClr val="0E8FA8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56032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cahier des charges du produit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3697224" cy="4846320"/>
          </a:xfrm>
          <a:prstGeom prst="roundRect">
            <a:avLst>
              <a:gd name="adj" fmla="val 17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490472"/>
            <a:ext cx="336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pré-lecture (ML)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38912" y="1920240"/>
            <a:ext cx="3422904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classer la radio thoracique (normal / pneumonie / Covid) + détecter les signes critiques.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CNN, transfer learning (DenseNet / EfficientNet).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: score de confiance + carte de chaleur (Grad-CAM).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au rappel : sensibilité ≥ 95 %.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45864" y="1371600"/>
            <a:ext cx="3697224" cy="4846320"/>
          </a:xfrm>
          <a:prstGeom prst="roundRect">
            <a:avLst>
              <a:gd name="adj" fmla="val 17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10456" y="1490472"/>
            <a:ext cx="336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&amp; restitution (PACS)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410456" y="1920240"/>
            <a:ext cx="3422904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priorité → ré-ordonnancement de la worklist.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intégré au PACS (pas de nouvel outil).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du radiologue (human-in-the-loop).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de feedback pour l'amélioration continue.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17408" y="1371600"/>
            <a:ext cx="3697224" cy="4846320"/>
          </a:xfrm>
          <a:prstGeom prst="roundRect">
            <a:avLst>
              <a:gd name="adj" fmla="val 17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82000" y="1490472"/>
            <a:ext cx="336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supervision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382000" y="1920240"/>
            <a:ext cx="3422904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la performance et de la dérive du modèle.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clinique : faux négatifs à rejouer.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opérationnels : délais, volume, tri.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&amp; conformité (audit RGPD).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DPM — CHU de Lyon · RadioPredict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972800" y="652881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841248"/>
          </a:xfrm>
          <a:prstGeom prst="roundRect">
            <a:avLst>
              <a:gd name="adj" fmla="val 10870"/>
            </a:avLst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" y="493776"/>
            <a:ext cx="310896" cy="365760"/>
          </a:xfrm>
          <a:prstGeom prst="roundRect">
            <a:avLst>
              <a:gd name="adj" fmla="val 20588"/>
            </a:avLst>
          </a:prstGeom>
          <a:solidFill>
            <a:srgbClr val="0E8FA8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56032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data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663440" y="2331720"/>
            <a:ext cx="54864" cy="445770"/>
          </a:xfrm>
          <a:prstGeom prst="rect">
            <a:avLst/>
          </a:prstGeom>
          <a:solidFill>
            <a:srgbClr val="0E8FA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6304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4630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 </a:t>
            </a:r>
            <a:pPr indent="0" marL="0">
              <a:buNone/>
            </a:pPr>
            <a:r>
              <a:rPr lang="en-US" sz="1050" dirty="0">
                <a:solidFill>
                  <a:srgbClr val="CFE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worklist PACS (DICOM), dataset historique anonymisé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3188970"/>
            <a:ext cx="54864" cy="445770"/>
          </a:xfrm>
          <a:prstGeom prst="rect">
            <a:avLst/>
          </a:prstGeom>
          <a:solidFill>
            <a:srgbClr val="0E8FA8"/>
          </a:solidFill>
          <a:ln/>
        </p:spPr>
      </p:sp>
      <p:sp>
        <p:nvSpPr>
          <p:cNvPr id="9" name="Shape 7"/>
          <p:cNvSpPr/>
          <p:nvPr/>
        </p:nvSpPr>
        <p:spPr>
          <a:xfrm>
            <a:off x="2240280" y="232029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13315C"/>
          </a:solidFill>
          <a:ln/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232029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 </a:t>
            </a:r>
            <a:pPr indent="0" marL="0">
              <a:buNone/>
            </a:pPr>
            <a:r>
              <a:rPr lang="en-US" sz="1050" dirty="0">
                <a:solidFill>
                  <a:srgbClr val="CFE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pseudonymisation, datalake HDS, versioning (DVC)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4046220"/>
            <a:ext cx="54864" cy="445770"/>
          </a:xfrm>
          <a:prstGeom prst="rect">
            <a:avLst/>
          </a:prstGeom>
          <a:solidFill>
            <a:srgbClr val="0E8FA8"/>
          </a:solidFill>
          <a:ln/>
        </p:spPr>
      </p:sp>
      <p:sp>
        <p:nvSpPr>
          <p:cNvPr id="12" name="Shape 10"/>
          <p:cNvSpPr/>
          <p:nvPr/>
        </p:nvSpPr>
        <p:spPr>
          <a:xfrm>
            <a:off x="3931920" y="317754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0" y="31775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ML  </a:t>
            </a:r>
            <a:pPr indent="0" marL="0">
              <a:buNone/>
            </a:pPr>
            <a:r>
              <a:rPr lang="en-US" sz="1050" dirty="0">
                <a:solidFill>
                  <a:srgbClr val="CFE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CNN transfer learning, calibration, Grad-CAM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738360" y="4903470"/>
            <a:ext cx="54864" cy="445770"/>
          </a:xfrm>
          <a:prstGeom prst="rect">
            <a:avLst/>
          </a:prstGeom>
          <a:solidFill>
            <a:srgbClr val="0E8FA8"/>
          </a:solidFill>
          <a:ln/>
        </p:spPr>
      </p:sp>
      <p:sp>
        <p:nvSpPr>
          <p:cNvPr id="15" name="Shape 13"/>
          <p:cNvSpPr/>
          <p:nvPr/>
        </p:nvSpPr>
        <p:spPr>
          <a:xfrm>
            <a:off x="5623560" y="403479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13315C"/>
          </a:solidFill>
          <a:ln/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06440" y="403479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 </a:t>
            </a:r>
            <a:pPr indent="0" marL="0">
              <a:buNone/>
            </a:pPr>
            <a:r>
              <a:rPr lang="en-US" sz="1050" dirty="0">
                <a:solidFill>
                  <a:srgbClr val="CFE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service d'inférence (API), intégration PACS + dashboard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0" y="489204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0" y="48920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 </a:t>
            </a:r>
            <a:pPr indent="0" marL="0">
              <a:buNone/>
            </a:pPr>
            <a:r>
              <a:rPr lang="en-US" sz="1050" dirty="0">
                <a:solidFill>
                  <a:srgbClr val="CFE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monitoring, alertes de dérive, réentraînement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DPM — CHU de Lyon · RadioPredict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972800" y="652881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841248"/>
          </a:xfrm>
          <a:prstGeom prst="roundRect">
            <a:avLst>
              <a:gd name="adj" fmla="val 10870"/>
            </a:avLst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" y="493776"/>
            <a:ext cx="310896" cy="365760"/>
          </a:xfrm>
          <a:prstGeom prst="roundRect">
            <a:avLst>
              <a:gd name="adj" fmla="val 20588"/>
            </a:avLst>
          </a:prstGeom>
          <a:solidFill>
            <a:srgbClr val="0E8FA8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56032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projet (MVP ~16 semaines)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2738628" cy="822960"/>
          </a:xfrm>
          <a:prstGeom prst="roundRect">
            <a:avLst>
              <a:gd name="adj" fmla="val 7778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627632"/>
            <a:ext cx="255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975104"/>
            <a:ext cx="255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S1–S3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468880"/>
            <a:ext cx="2738628" cy="338328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2578608"/>
            <a:ext cx="2519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&amp; Données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" y="2971800"/>
            <a:ext cx="25191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&amp; specs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données &amp; RGPD (AIPD)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ingestion DICOM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qualité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1548" y="1554480"/>
            <a:ext cx="2738628" cy="822960"/>
          </a:xfrm>
          <a:prstGeom prst="roundRect">
            <a:avLst>
              <a:gd name="adj" fmla="val 7778"/>
            </a:avLst>
          </a:prstGeom>
          <a:solidFill>
            <a:srgbClr val="13315C"/>
          </a:solidFill>
          <a:ln/>
        </p:spPr>
      </p:sp>
      <p:sp>
        <p:nvSpPr>
          <p:cNvPr id="12" name="Text 10"/>
          <p:cNvSpPr/>
          <p:nvPr/>
        </p:nvSpPr>
        <p:spPr>
          <a:xfrm>
            <a:off x="3332988" y="1627632"/>
            <a:ext cx="255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2988" y="1975104"/>
            <a:ext cx="255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S4–S7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1548" y="2468880"/>
            <a:ext cx="2738628" cy="338328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51276" y="2578608"/>
            <a:ext cx="2519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MVP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69564" y="2971800"/>
            <a:ext cx="25191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dataset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CNN (transfer)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&amp; calibration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Explicabilité (Grad-CAM)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08776" y="1554480"/>
            <a:ext cx="2738628" cy="822960"/>
          </a:xfrm>
          <a:prstGeom prst="roundRect">
            <a:avLst>
              <a:gd name="adj" fmla="val 7778"/>
            </a:avLst>
          </a:prstGeom>
          <a:solidFill>
            <a:srgbClr val="0B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6300216" y="1627632"/>
            <a:ext cx="255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0216" y="1975104"/>
            <a:ext cx="255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S8–S11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08776" y="2468880"/>
            <a:ext cx="2738628" cy="338328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18504" y="2578608"/>
            <a:ext cx="2519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&amp; Pilote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2971800"/>
            <a:ext cx="25191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PACS (worklist)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supervision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en shadow mode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Ajustements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76004" y="1554480"/>
            <a:ext cx="2738628" cy="822960"/>
          </a:xfrm>
          <a:prstGeom prst="roundRect">
            <a:avLst>
              <a:gd name="adj" fmla="val 7778"/>
            </a:avLst>
          </a:prstGeom>
          <a:solidFill>
            <a:srgbClr val="13315C"/>
          </a:solidFill>
          <a:ln/>
        </p:spPr>
      </p:sp>
      <p:sp>
        <p:nvSpPr>
          <p:cNvPr id="24" name="Text 22"/>
          <p:cNvSpPr/>
          <p:nvPr/>
        </p:nvSpPr>
        <p:spPr>
          <a:xfrm>
            <a:off x="9267444" y="1627632"/>
            <a:ext cx="255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67444" y="1975104"/>
            <a:ext cx="255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S12–S16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76004" y="2468880"/>
            <a:ext cx="2738628" cy="338328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285732" y="2578608"/>
            <a:ext cx="2519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&amp; Suivi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04020" y="2971800"/>
            <a:ext cx="25191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progressif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dérive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utilisateurs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passage échelle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5989320"/>
            <a:ext cx="1164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 : P1 données conformes · P2 modèle validé (sensibilité ≥ 95 %) · P3 pilote concluant · P4 déploiement assisté + suivi.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DPM — CHU de Lyon · RadioPredict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972800" y="652881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841248"/>
          </a:xfrm>
          <a:prstGeom prst="roundRect">
            <a:avLst>
              <a:gd name="adj" fmla="val 10870"/>
            </a:avLst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" y="493776"/>
            <a:ext cx="310896" cy="365760"/>
          </a:xfrm>
          <a:prstGeom prst="roundRect">
            <a:avLst>
              <a:gd name="adj" fmla="val 20588"/>
            </a:avLst>
          </a:prstGeom>
          <a:solidFill>
            <a:srgbClr val="0E8FA8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56032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périmètre minimal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3697224" cy="4846320"/>
          </a:xfrm>
          <a:prstGeom prst="roundRect">
            <a:avLst>
              <a:gd name="adj" fmla="val 17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490472"/>
            <a:ext cx="336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prédiction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38912" y="1920240"/>
            <a:ext cx="3422904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: normal / pneumonie / Covid-19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signes critiques (foyer, épanchement, pneumothorax, nodule)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confiance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: dataset public + radios HCL anonymisées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45864" y="1371600"/>
            <a:ext cx="3697224" cy="4846320"/>
          </a:xfrm>
          <a:prstGeom prst="roundRect">
            <a:avLst>
              <a:gd name="adj" fmla="val 17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10456" y="1490472"/>
            <a:ext cx="336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&amp; restitution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410456" y="1920240"/>
            <a:ext cx="3422904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Ré-ordonnancement de la worklist PACS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de chaleur explicative sur l'image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radiologue (human-in-the-loop)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de feedback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17408" y="1371600"/>
            <a:ext cx="3697224" cy="484632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82000" y="1490472"/>
            <a:ext cx="336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382000" y="1920240"/>
            <a:ext cx="3404616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Radio thoracique adulte, de face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 classes + signes critiques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Tri worklist + dashboard de base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Environnement pilote (1–2 services)</a:t>
            </a:r>
            <a:endParaRPr lang="en-US" sz="1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 (versions futures)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Pédiatrie ; incidence de profil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Scanner / IRM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Compte-rendu textuel complet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Déploiement multi-sites généralisé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DPM — CHU de Lyon · RadioPredict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972800" y="652881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841248"/>
          </a:xfrm>
          <a:prstGeom prst="roundRect">
            <a:avLst>
              <a:gd name="adj" fmla="val 10870"/>
            </a:avLst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" y="493776"/>
            <a:ext cx="310896" cy="365760"/>
          </a:xfrm>
          <a:prstGeom prst="roundRect">
            <a:avLst>
              <a:gd name="adj" fmla="val 20588"/>
            </a:avLst>
          </a:prstGeom>
          <a:solidFill>
            <a:srgbClr val="0E8FA8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56032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MVP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663440" y="2331720"/>
            <a:ext cx="54864" cy="445770"/>
          </a:xfrm>
          <a:prstGeom prst="rect">
            <a:avLst/>
          </a:prstGeom>
          <a:solidFill>
            <a:srgbClr val="0E8FA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6304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4630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DICOM / PACS  </a:t>
            </a:r>
            <a:pPr indent="0" marL="0">
              <a:buNone/>
            </a:pPr>
            <a:r>
              <a:rPr lang="en-US" sz="1050" dirty="0">
                <a:solidFill>
                  <a:srgbClr val="CFE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récupération de l'examen à l'arrivée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3188970"/>
            <a:ext cx="54864" cy="445770"/>
          </a:xfrm>
          <a:prstGeom prst="rect">
            <a:avLst/>
          </a:prstGeom>
          <a:solidFill>
            <a:srgbClr val="0E8FA8"/>
          </a:solidFill>
          <a:ln/>
        </p:spPr>
      </p:sp>
      <p:sp>
        <p:nvSpPr>
          <p:cNvPr id="9" name="Shape 7"/>
          <p:cNvSpPr/>
          <p:nvPr/>
        </p:nvSpPr>
        <p:spPr>
          <a:xfrm>
            <a:off x="2240280" y="232029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13315C"/>
          </a:solidFill>
          <a:ln/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232029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 </a:t>
            </a:r>
            <a:pPr indent="0" marL="0">
              <a:buNone/>
            </a:pPr>
            <a:r>
              <a:rPr lang="en-US" sz="1050" dirty="0">
                <a:solidFill>
                  <a:srgbClr val="CFE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public (amorçage) + radios HCL anonymisées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4046220"/>
            <a:ext cx="54864" cy="445770"/>
          </a:xfrm>
          <a:prstGeom prst="rect">
            <a:avLst/>
          </a:prstGeom>
          <a:solidFill>
            <a:srgbClr val="0E8FA8"/>
          </a:solidFill>
          <a:ln/>
        </p:spPr>
      </p:sp>
      <p:sp>
        <p:nvSpPr>
          <p:cNvPr id="12" name="Shape 10"/>
          <p:cNvSpPr/>
          <p:nvPr/>
        </p:nvSpPr>
        <p:spPr>
          <a:xfrm>
            <a:off x="3931920" y="317754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0" y="31775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CNN  </a:t>
            </a:r>
            <a:pPr indent="0" marL="0">
              <a:buNone/>
            </a:pPr>
            <a:r>
              <a:rPr lang="en-US" sz="1050" dirty="0">
                <a:solidFill>
                  <a:srgbClr val="CFE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transfer learning, inférence &lt; 1 min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738360" y="4903470"/>
            <a:ext cx="54864" cy="445770"/>
          </a:xfrm>
          <a:prstGeom prst="rect">
            <a:avLst/>
          </a:prstGeom>
          <a:solidFill>
            <a:srgbClr val="0E8FA8"/>
          </a:solidFill>
          <a:ln/>
        </p:spPr>
      </p:sp>
      <p:sp>
        <p:nvSpPr>
          <p:cNvPr id="15" name="Shape 13"/>
          <p:cNvSpPr/>
          <p:nvPr/>
        </p:nvSpPr>
        <p:spPr>
          <a:xfrm>
            <a:off x="5623560" y="403479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13315C"/>
          </a:solidFill>
          <a:ln/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06440" y="403479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&amp; calibration  </a:t>
            </a:r>
            <a:pPr indent="0" marL="0">
              <a:buNone/>
            </a:pPr>
            <a:r>
              <a:rPr lang="en-US" sz="1050" dirty="0">
                <a:solidFill>
                  <a:srgbClr val="CFE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sensibilité, spécificité, ECE, Grad-CAM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0" y="489204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0" y="48920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PACS + Dashboard  </a:t>
            </a:r>
            <a:pPr indent="0" marL="0">
              <a:buNone/>
            </a:pPr>
            <a:r>
              <a:rPr lang="en-US" sz="1050" dirty="0">
                <a:solidFill>
                  <a:srgbClr val="CFE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worklist priorisée + supervision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DPM — CHU de Lyon · RadioPredict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972800" y="652881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841248"/>
          </a:xfrm>
          <a:prstGeom prst="roundRect">
            <a:avLst>
              <a:gd name="adj" fmla="val 10870"/>
            </a:avLst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" y="493776"/>
            <a:ext cx="310896" cy="365760"/>
          </a:xfrm>
          <a:prstGeom prst="roundRect">
            <a:avLst>
              <a:gd name="adj" fmla="val 20588"/>
            </a:avLst>
          </a:prstGeom>
          <a:solidFill>
            <a:srgbClr val="0E8FA8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56032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progressif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3697224" cy="2194560"/>
          </a:xfrm>
          <a:prstGeom prst="roundRect">
            <a:avLst>
              <a:gd name="adj" fmla="val 333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554480"/>
            <a:ext cx="336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Préparation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2084832"/>
            <a:ext cx="3368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Cadrage, AIPD/RGPD, accès données, formation, identification des champions.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45864" y="1371600"/>
            <a:ext cx="3697224" cy="2194560"/>
          </a:xfrm>
          <a:prstGeom prst="roundRect">
            <a:avLst>
              <a:gd name="adj" fmla="val 3333"/>
            </a:avLst>
          </a:prstGeom>
          <a:solidFill>
            <a:srgbClr val="13315C"/>
          </a:solidFill>
          <a:ln/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10456" y="1554480"/>
            <a:ext cx="336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Shadow mode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10456" y="2084832"/>
            <a:ext cx="3368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tourne en parallèle sans impacter le flux : comparaison IA vs radiologue.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17408" y="1371600"/>
            <a:ext cx="3697224" cy="2194560"/>
          </a:xfrm>
          <a:prstGeom prst="roundRect">
            <a:avLst>
              <a:gd name="adj" fmla="val 333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82000" y="1554480"/>
            <a:ext cx="336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Assistance active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82000" y="2084832"/>
            <a:ext cx="3368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du tri et de l'affichage une fois la sécurité démontrée (human-in-the-loop).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60092" y="3749040"/>
            <a:ext cx="3697224" cy="2194560"/>
          </a:xfrm>
          <a:prstGeom prst="roundRect">
            <a:avLst>
              <a:gd name="adj" fmla="val 3333"/>
            </a:avLst>
          </a:prstGeom>
          <a:solidFill>
            <a:srgbClr val="13315C"/>
          </a:solidFill>
          <a:ln/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24684" y="3931920"/>
            <a:ext cx="336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Extension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24684" y="4462272"/>
            <a:ext cx="3368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d'un service (Croix-Rousse) vers les autres sites HCL.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31636" y="3749040"/>
            <a:ext cx="3697224" cy="2194560"/>
          </a:xfrm>
          <a:prstGeom prst="roundRect">
            <a:avLst>
              <a:gd name="adj" fmla="val 333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63500" dist="25400" dir="5400000">
              <a:srgbClr val="9FB1BA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96228" y="3931920"/>
            <a:ext cx="336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Suivi en routine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96228" y="4462272"/>
            <a:ext cx="3368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alertes de dérive, réentraînement, bilan qualité régulier.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DPM — CHU de Lyon · RadioPredict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972800" y="652881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841248"/>
          </a:xfrm>
          <a:prstGeom prst="roundRect">
            <a:avLst>
              <a:gd name="adj" fmla="val 10870"/>
            </a:avLst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" y="493776"/>
            <a:ext cx="310896" cy="365760"/>
          </a:xfrm>
          <a:prstGeom prst="roundRect">
            <a:avLst>
              <a:gd name="adj" fmla="val 20588"/>
            </a:avLst>
          </a:prstGeom>
          <a:solidFill>
            <a:srgbClr val="0E8FA8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56032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&amp; Conformité (RGPD / AI Act)</a:t>
            </a:r>
            <a:endParaRPr lang="en-US" sz="2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1145743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6336792"/>
                <a:gridCol w="1554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Obligation / mesure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légale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RGPD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 de service public / intérêt public en santé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RGPD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Pseudonymisation, minimisation, durée de conservation définie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Hébergement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RGPD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Hébergeur de données de santé (HDS), traitement on-premise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Sécurité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RGPD / ISO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Chiffrement, ISO 27001, accès restreint, audit trail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Supervision humaine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Human-in-the-loop : l'IA n'a pas de décision autonome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Biais &amp; transparence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Évaluation par sous-groupes, documentation du modèle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Dispositif médical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Trajectoire vers le marquage CE + évaluation clinique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A6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viser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989320"/>
            <a:ext cx="11457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majeurs maîtrisés par design : faux négatifs (seuil haute sensibilité + human-in-the-loop), biais (dataset diversifié + suivi), dérive (monitoring + réentraînement).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27432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DPM — CHU de Lyon · RadioPredict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972800" y="652881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841248"/>
          </a:xfrm>
          <a:prstGeom prst="roundRect">
            <a:avLst>
              <a:gd name="adj" fmla="val 10870"/>
            </a:avLst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" y="493776"/>
            <a:ext cx="310896" cy="365760"/>
          </a:xfrm>
          <a:prstGeom prst="roundRect">
            <a:avLst>
              <a:gd name="adj" fmla="val 20588"/>
            </a:avLst>
          </a:prstGeom>
          <a:solidFill>
            <a:srgbClr val="0E8FA8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56032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74552" cy="4480560"/>
          </a:xfrm>
          <a:prstGeom prst="roundRect">
            <a:avLst>
              <a:gd name="adj" fmla="val 2041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phase de Discovery a révélé une tension commune sur le diagnostic au CHU :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lecture manuelle, non priorisée et variable qui allonge les délais et fragilise la fiabilité.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Parmi trois pistes (imagerie, hématologie, cardiologie), la grille de priorisation retient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pré-lecture IA des radiographies thoraciques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volume et impact maximal, alignement avec « HCL 2035 », effort maîtrisé et benchmark mûr.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MVP — un assistant intégré au PACS,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conforme (RGPD, HDS, AI Act) — vise rapidité, fiabilité et priorisation des urgences, sans jamais remplacer le radiologue.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CHU dispose ainsi d'un levier concret pour sécuriser et accélérer le diagnostic thoracique, et préparer l'extension à d'autres usages data.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DPM — CHU de Lyon · RadioPredict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52881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10725912" cy="3200400"/>
          </a:xfrm>
          <a:prstGeom prst="roundRect">
            <a:avLst>
              <a:gd name="adj" fmla="val 3429"/>
            </a:avLst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2148840"/>
            <a:ext cx="457200" cy="548640"/>
          </a:xfrm>
          <a:prstGeom prst="roundRect">
            <a:avLst>
              <a:gd name="adj" fmla="val 16000"/>
            </a:avLst>
          </a:prstGeom>
          <a:solidFill>
            <a:srgbClr val="0E8FA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774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3520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3949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DPM — CHU de Lyon · RadioPredict · Data Product Manager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DPM - CHU de Lyon - RadioPredict</dc:title>
  <dc:subject>PptxGenJS Presentation</dc:subject>
  <dc:creator>Projet DPM - CHU Lyon</dc:creator>
  <cp:lastModifiedBy>Projet DPM - CHU Lyon</cp:lastModifiedBy>
  <cp:revision>1</cp:revision>
  <dcterms:created xsi:type="dcterms:W3CDTF">2026-06-26T13:20:44Z</dcterms:created>
  <dcterms:modified xsi:type="dcterms:W3CDTF">2026-06-26T13:20:44Z</dcterms:modified>
</cp:coreProperties>
</file>
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84" r:id="rId3"/>
    <p:sldId id="257" r:id="rId4"/>
    <p:sldId id="259" r:id="rId5"/>
    <p:sldId id="262" r:id="rId6"/>
    <p:sldId id="265" r:id="rId7"/>
    <p:sldId id="260" r:id="rId8"/>
    <p:sldId id="263" r:id="rId9"/>
    <p:sldId id="266" r:id="rId10"/>
    <p:sldId id="261" r:id="rId11"/>
    <p:sldId id="264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DC2CF8-1966-4D33-ABAD-6E9E4E0090FE}" v="7" dt="2026-06-29T13:43:44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288" autoAdjust="0"/>
  </p:normalViewPr>
  <p:slideViewPr>
    <p:cSldViewPr snapToGrid="0" snapToObjects="1">
      <p:cViewPr varScale="1">
        <p:scale>
          <a:sx n="96" d="100"/>
          <a:sy n="96" d="100"/>
        </p:scale>
        <p:origin x="11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odie Toufaili" userId="6931ca539df5403f" providerId="LiveId" clId="{890880B0-7419-4F2F-A4FC-4C691C492E84}"/>
    <pc:docChg chg="undo custSel delSld modSld sldOrd">
      <pc:chgData name="Elodie Toufaili" userId="6931ca539df5403f" providerId="LiveId" clId="{890880B0-7419-4F2F-A4FC-4C691C492E84}" dt="2026-06-29T14:02:19.337" v="953" actId="20577"/>
      <pc:docMkLst>
        <pc:docMk/>
      </pc:docMkLst>
      <pc:sldChg chg="modSp mod modNotesTx">
        <pc:chgData name="Elodie Toufaili" userId="6931ca539df5403f" providerId="LiveId" clId="{890880B0-7419-4F2F-A4FC-4C691C492E84}" dt="2026-06-29T13:13:31.236" v="696" actId="20577"/>
        <pc:sldMkLst>
          <pc:docMk/>
          <pc:sldMk cId="0" sldId="256"/>
        </pc:sldMkLst>
        <pc:spChg chg="mod">
          <ac:chgData name="Elodie Toufaili" userId="6931ca539df5403f" providerId="LiveId" clId="{890880B0-7419-4F2F-A4FC-4C691C492E84}" dt="2026-06-29T12:51:22.482" v="45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51:38.027" v="46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08:05:10.221" v="13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 modNotesTx">
        <pc:chgData name="Elodie Toufaili" userId="6931ca539df5403f" providerId="LiveId" clId="{890880B0-7419-4F2F-A4FC-4C691C492E84}" dt="2026-06-29T13:13:42.118" v="702" actId="20577"/>
        <pc:sldMkLst>
          <pc:docMk/>
          <pc:sldMk cId="0" sldId="257"/>
        </pc:sldMkLst>
        <pc:spChg chg="mod">
          <ac:chgData name="Elodie Toufaili" userId="6931ca539df5403f" providerId="LiveId" clId="{890880B0-7419-4F2F-A4FC-4C691C492E84}" dt="2026-06-29T08:09:52.420" v="1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30.417" v="41" actId="403"/>
          <ac:spMkLst>
            <pc:docMk/>
            <pc:sldMk cId="0" sldId="257"/>
            <ac:spMk id="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30.831" v="43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2:05:29.293" v="36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08:08:49.254" v="15" actId="1076"/>
          <ac:spMkLst>
            <pc:docMk/>
            <pc:sldMk cId="0" sldId="257"/>
            <ac:spMk id="11" creationId="{00000000-0000-0000-0000-000000000000}"/>
          </ac:spMkLst>
        </pc:spChg>
      </pc:sldChg>
      <pc:sldChg chg="del">
        <pc:chgData name="Elodie Toufaili" userId="6931ca539df5403f" providerId="LiveId" clId="{890880B0-7419-4F2F-A4FC-4C691C492E84}" dt="2026-06-29T12:52:42.266" v="47" actId="2696"/>
        <pc:sldMkLst>
          <pc:docMk/>
          <pc:sldMk cId="0" sldId="258"/>
        </pc:sldMkLst>
      </pc:sldChg>
      <pc:sldChg chg="modSp mod modNotesTx">
        <pc:chgData name="Elodie Toufaili" userId="6931ca539df5403f" providerId="LiveId" clId="{890880B0-7419-4F2F-A4FC-4C691C492E84}" dt="2026-06-29T13:46:14.817" v="837" actId="20577"/>
        <pc:sldMkLst>
          <pc:docMk/>
          <pc:sldMk cId="0" sldId="259"/>
        </pc:sldMkLst>
        <pc:spChg chg="mod">
          <ac:chgData name="Elodie Toufaili" userId="6931ca539df5403f" providerId="LiveId" clId="{890880B0-7419-4F2F-A4FC-4C691C492E84}" dt="2026-06-29T13:46:14.817" v="837" actId="20577"/>
          <ac:spMkLst>
            <pc:docMk/>
            <pc:sldMk cId="0" sldId="259"/>
            <ac:spMk id="20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13:58.112" v="707" actId="20577"/>
        <pc:sldMkLst>
          <pc:docMk/>
          <pc:sldMk cId="0" sldId="260"/>
        </pc:sldMkLst>
      </pc:sldChg>
      <pc:sldChg chg="modNotesTx">
        <pc:chgData name="Elodie Toufaili" userId="6931ca539df5403f" providerId="LiveId" clId="{890880B0-7419-4F2F-A4FC-4C691C492E84}" dt="2026-06-29T13:14:07.019" v="710" actId="20577"/>
        <pc:sldMkLst>
          <pc:docMk/>
          <pc:sldMk cId="0" sldId="261"/>
        </pc:sldMkLst>
      </pc:sldChg>
      <pc:sldChg chg="ord modNotesTx">
        <pc:chgData name="Elodie Toufaili" userId="6931ca539df5403f" providerId="LiveId" clId="{890880B0-7419-4F2F-A4FC-4C691C492E84}" dt="2026-06-29T13:13:54.980" v="706" actId="20577"/>
        <pc:sldMkLst>
          <pc:docMk/>
          <pc:sldMk cId="0" sldId="262"/>
        </pc:sldMkLst>
      </pc:sldChg>
      <pc:sldChg chg="ord modNotesTx">
        <pc:chgData name="Elodie Toufaili" userId="6931ca539df5403f" providerId="LiveId" clId="{890880B0-7419-4F2F-A4FC-4C691C492E84}" dt="2026-06-29T13:14:03.404" v="708" actId="20577"/>
        <pc:sldMkLst>
          <pc:docMk/>
          <pc:sldMk cId="0" sldId="263"/>
        </pc:sldMkLst>
      </pc:sldChg>
      <pc:sldChg chg="modNotesTx">
        <pc:chgData name="Elodie Toufaili" userId="6931ca539df5403f" providerId="LiveId" clId="{890880B0-7419-4F2F-A4FC-4C691C492E84}" dt="2026-06-29T13:14:10.642" v="712" actId="20577"/>
        <pc:sldMkLst>
          <pc:docMk/>
          <pc:sldMk cId="0" sldId="264"/>
        </pc:sldMkLst>
      </pc:sldChg>
      <pc:sldChg chg="ord modNotesTx">
        <pc:chgData name="Elodie Toufaili" userId="6931ca539df5403f" providerId="LiveId" clId="{890880B0-7419-4F2F-A4FC-4C691C492E84}" dt="2026-06-29T13:15:19.859" v="718" actId="20577"/>
        <pc:sldMkLst>
          <pc:docMk/>
          <pc:sldMk cId="0" sldId="265"/>
        </pc:sldMkLst>
      </pc:sldChg>
      <pc:sldChg chg="ord modNotesTx">
        <pc:chgData name="Elodie Toufaili" userId="6931ca539df5403f" providerId="LiveId" clId="{890880B0-7419-4F2F-A4FC-4C691C492E84}" dt="2026-06-29T13:15:22.647" v="719" actId="20577"/>
        <pc:sldMkLst>
          <pc:docMk/>
          <pc:sldMk cId="0" sldId="266"/>
        </pc:sldMkLst>
      </pc:sldChg>
      <pc:sldChg chg="modNotesTx">
        <pc:chgData name="Elodie Toufaili" userId="6931ca539df5403f" providerId="LiveId" clId="{890880B0-7419-4F2F-A4FC-4C691C492E84}" dt="2026-06-29T13:15:26.307" v="721" actId="20577"/>
        <pc:sldMkLst>
          <pc:docMk/>
          <pc:sldMk cId="0" sldId="267"/>
        </pc:sldMkLst>
      </pc:sldChg>
      <pc:sldChg chg="modNotesTx">
        <pc:chgData name="Elodie Toufaili" userId="6931ca539df5403f" providerId="LiveId" clId="{890880B0-7419-4F2F-A4FC-4C691C492E84}" dt="2026-06-29T13:15:38.924" v="723" actId="20577"/>
        <pc:sldMkLst>
          <pc:docMk/>
          <pc:sldMk cId="0" sldId="268"/>
        </pc:sldMkLst>
      </pc:sldChg>
      <pc:sldChg chg="addSp delSp modSp mod modNotesTx">
        <pc:chgData name="Elodie Toufaili" userId="6931ca539df5403f" providerId="LiveId" clId="{890880B0-7419-4F2F-A4FC-4C691C492E84}" dt="2026-06-29T13:15:52.087" v="724" actId="20577"/>
        <pc:sldMkLst>
          <pc:docMk/>
          <pc:sldMk cId="0" sldId="269"/>
        </pc:sldMkLst>
        <pc:spChg chg="add del mod">
          <ac:chgData name="Elodie Toufaili" userId="6931ca539df5403f" providerId="LiveId" clId="{890880B0-7419-4F2F-A4FC-4C691C492E84}" dt="2026-06-29T12:05:28.366" v="32" actId="21"/>
          <ac:spMkLst>
            <pc:docMk/>
            <pc:sldMk cId="0" sldId="269"/>
            <ac:spMk id="6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15:55.756" v="725" actId="20577"/>
        <pc:sldMkLst>
          <pc:docMk/>
          <pc:sldMk cId="0" sldId="270"/>
        </pc:sldMkLst>
      </pc:sldChg>
      <pc:sldChg chg="modNotesTx">
        <pc:chgData name="Elodie Toufaili" userId="6931ca539df5403f" providerId="LiveId" clId="{890880B0-7419-4F2F-A4FC-4C691C492E84}" dt="2026-06-29T13:16:26.001" v="727" actId="20577"/>
        <pc:sldMkLst>
          <pc:docMk/>
          <pc:sldMk cId="0" sldId="271"/>
        </pc:sldMkLst>
      </pc:sldChg>
      <pc:sldChg chg="addSp delSp modSp mod modNotesTx">
        <pc:chgData name="Elodie Toufaili" userId="6931ca539df5403f" providerId="LiveId" clId="{890880B0-7419-4F2F-A4FC-4C691C492E84}" dt="2026-06-29T13:27:28.036" v="761" actId="20577"/>
        <pc:sldMkLst>
          <pc:docMk/>
          <pc:sldMk cId="0" sldId="272"/>
        </pc:sldMkLst>
        <pc:spChg chg="add del">
          <ac:chgData name="Elodie Toufaili" userId="6931ca539df5403f" providerId="LiveId" clId="{890880B0-7419-4F2F-A4FC-4C691C492E84}" dt="2026-06-29T13:21:10.193" v="730" actId="22"/>
          <ac:spMkLst>
            <pc:docMk/>
            <pc:sldMk cId="0" sldId="272"/>
            <ac:spMk id="17" creationId="{22438501-35F3-0135-39C9-9D139E0CA26B}"/>
          </ac:spMkLst>
        </pc:spChg>
        <pc:picChg chg="add mod modCrop">
          <ac:chgData name="Elodie Toufaili" userId="6931ca539df5403f" providerId="LiveId" clId="{890880B0-7419-4F2F-A4FC-4C691C492E84}" dt="2026-06-29T13:26:43.935" v="759" actId="1076"/>
          <ac:picMkLst>
            <pc:docMk/>
            <pc:sldMk cId="0" sldId="272"/>
            <ac:picMk id="19" creationId="{1CDC8A82-D54A-7A00-9B6B-45D0619E04FB}"/>
          </ac:picMkLst>
        </pc:picChg>
        <pc:picChg chg="add mod">
          <ac:chgData name="Elodie Toufaili" userId="6931ca539df5403f" providerId="LiveId" clId="{890880B0-7419-4F2F-A4FC-4C691C492E84}" dt="2026-06-29T13:26:33.497" v="758" actId="1076"/>
          <ac:picMkLst>
            <pc:docMk/>
            <pc:sldMk cId="0" sldId="272"/>
            <ac:picMk id="20" creationId="{6A541733-BF80-A094-9E53-66ADC11A93EB}"/>
          </ac:picMkLst>
        </pc:picChg>
        <pc:picChg chg="add mod modCrop">
          <ac:chgData name="Elodie Toufaili" userId="6931ca539df5403f" providerId="LiveId" clId="{890880B0-7419-4F2F-A4FC-4C691C492E84}" dt="2026-06-29T13:26:32.005" v="757" actId="1076"/>
          <ac:picMkLst>
            <pc:docMk/>
            <pc:sldMk cId="0" sldId="272"/>
            <ac:picMk id="21" creationId="{043427E0-2DCD-2B0D-E789-D267D566A958}"/>
          </ac:picMkLst>
        </pc:picChg>
      </pc:sldChg>
      <pc:sldChg chg="modNotesTx">
        <pc:chgData name="Elodie Toufaili" userId="6931ca539df5403f" providerId="LiveId" clId="{890880B0-7419-4F2F-A4FC-4C691C492E84}" dt="2026-06-29T13:27:31.022" v="763" actId="20577"/>
        <pc:sldMkLst>
          <pc:docMk/>
          <pc:sldMk cId="0" sldId="273"/>
        </pc:sldMkLst>
      </pc:sldChg>
      <pc:sldChg chg="modNotesTx">
        <pc:chgData name="Elodie Toufaili" userId="6931ca539df5403f" providerId="LiveId" clId="{890880B0-7419-4F2F-A4FC-4C691C492E84}" dt="2026-06-29T13:27:33.753" v="765" actId="20577"/>
        <pc:sldMkLst>
          <pc:docMk/>
          <pc:sldMk cId="0" sldId="274"/>
        </pc:sldMkLst>
      </pc:sldChg>
      <pc:sldChg chg="modSp mod modNotesTx">
        <pc:chgData name="Elodie Toufaili" userId="6931ca539df5403f" providerId="LiveId" clId="{890880B0-7419-4F2F-A4FC-4C691C492E84}" dt="2026-06-29T14:02:19.337" v="953" actId="20577"/>
        <pc:sldMkLst>
          <pc:docMk/>
          <pc:sldMk cId="0" sldId="275"/>
        </pc:sldMkLst>
        <pc:spChg chg="mod">
          <ac:chgData name="Elodie Toufaili" userId="6931ca539df5403f" providerId="LiveId" clId="{890880B0-7419-4F2F-A4FC-4C691C492E84}" dt="2026-06-29T14:02:19.337" v="953" actId="20577"/>
          <ac:spMkLst>
            <pc:docMk/>
            <pc:sldMk cId="0" sldId="275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51:26.669" v="889" actId="20577"/>
          <ac:spMkLst>
            <pc:docMk/>
            <pc:sldMk cId="0" sldId="275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4:00:12.855" v="951" actId="20577"/>
          <ac:spMkLst>
            <pc:docMk/>
            <pc:sldMk cId="0" sldId="275"/>
            <ac:spMk id="13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54:11.168" v="904" actId="6549"/>
          <ac:spMkLst>
            <pc:docMk/>
            <pc:sldMk cId="0" sldId="275"/>
            <ac:spMk id="14" creationId="{00000000-0000-0000-0000-000000000000}"/>
          </ac:spMkLst>
        </pc:spChg>
      </pc:sldChg>
      <pc:sldChg chg="modNotesTx">
        <pc:chgData name="Elodie Toufaili" userId="6931ca539df5403f" providerId="LiveId" clId="{890880B0-7419-4F2F-A4FC-4C691C492E84}" dt="2026-06-29T13:34:05.418" v="806" actId="20577"/>
        <pc:sldMkLst>
          <pc:docMk/>
          <pc:sldMk cId="0" sldId="276"/>
        </pc:sldMkLst>
      </pc:sldChg>
      <pc:sldChg chg="modNotesTx">
        <pc:chgData name="Elodie Toufaili" userId="6931ca539df5403f" providerId="LiveId" clId="{890880B0-7419-4F2F-A4FC-4C691C492E84}" dt="2026-06-29T13:34:14.773" v="807" actId="20577"/>
        <pc:sldMkLst>
          <pc:docMk/>
          <pc:sldMk cId="0" sldId="277"/>
        </pc:sldMkLst>
      </pc:sldChg>
      <pc:sldChg chg="modNotesTx">
        <pc:chgData name="Elodie Toufaili" userId="6931ca539df5403f" providerId="LiveId" clId="{890880B0-7419-4F2F-A4FC-4C691C492E84}" dt="2026-06-29T13:34:48.597" v="809" actId="20577"/>
        <pc:sldMkLst>
          <pc:docMk/>
          <pc:sldMk cId="0" sldId="278"/>
        </pc:sldMkLst>
      </pc:sldChg>
      <pc:sldChg chg="modNotesTx">
        <pc:chgData name="Elodie Toufaili" userId="6931ca539df5403f" providerId="LiveId" clId="{890880B0-7419-4F2F-A4FC-4C691C492E84}" dt="2026-06-29T13:35:26.262" v="811" actId="20577"/>
        <pc:sldMkLst>
          <pc:docMk/>
          <pc:sldMk cId="0" sldId="279"/>
        </pc:sldMkLst>
      </pc:sldChg>
      <pc:sldChg chg="modNotesTx">
        <pc:chgData name="Elodie Toufaili" userId="6931ca539df5403f" providerId="LiveId" clId="{890880B0-7419-4F2F-A4FC-4C691C492E84}" dt="2026-06-29T13:36:26.500" v="813" actId="20577"/>
        <pc:sldMkLst>
          <pc:docMk/>
          <pc:sldMk cId="0" sldId="280"/>
        </pc:sldMkLst>
      </pc:sldChg>
      <pc:sldChg chg="modNotesTx">
        <pc:chgData name="Elodie Toufaili" userId="6931ca539df5403f" providerId="LiveId" clId="{890880B0-7419-4F2F-A4FC-4C691C492E84}" dt="2026-06-29T13:36:31.859" v="815" actId="20577"/>
        <pc:sldMkLst>
          <pc:docMk/>
          <pc:sldMk cId="0" sldId="281"/>
        </pc:sldMkLst>
      </pc:sldChg>
      <pc:sldChg chg="modNotesTx">
        <pc:chgData name="Elodie Toufaili" userId="6931ca539df5403f" providerId="LiveId" clId="{890880B0-7419-4F2F-A4FC-4C691C492E84}" dt="2026-06-29T13:36:37.182" v="816" actId="20577"/>
        <pc:sldMkLst>
          <pc:docMk/>
          <pc:sldMk cId="0" sldId="282"/>
        </pc:sldMkLst>
      </pc:sldChg>
      <pc:sldChg chg="addSp delSp modSp mod ord modNotesTx">
        <pc:chgData name="Elodie Toufaili" userId="6931ca539df5403f" providerId="LiveId" clId="{890880B0-7419-4F2F-A4FC-4C691C492E84}" dt="2026-06-29T13:44:02.842" v="834" actId="478"/>
        <pc:sldMkLst>
          <pc:docMk/>
          <pc:sldMk cId="0" sldId="284"/>
        </pc:sldMkLst>
        <pc:spChg chg="del mod">
          <ac:chgData name="Elodie Toufaili" userId="6931ca539df5403f" providerId="LiveId" clId="{890880B0-7419-4F2F-A4FC-4C691C492E84}" dt="2026-06-29T13:44:02.842" v="834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lodie Toufaili" userId="6931ca539df5403f" providerId="LiveId" clId="{890880B0-7419-4F2F-A4FC-4C691C492E84}" dt="2026-06-29T12:59:09.107" v="57" actId="478"/>
          <ac:spMkLst>
            <pc:docMk/>
            <pc:sldMk cId="0" sldId="284"/>
            <ac:spMk id="3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58.059" v="832" actId="14100"/>
          <ac:spMkLst>
            <pc:docMk/>
            <pc:sldMk cId="0" sldId="284"/>
            <ac:spMk id="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7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0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3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19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4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6" creationId="{00000000-0000-0000-0000-000000000000}"/>
          </ac:spMkLst>
        </pc:spChg>
        <pc:spChg chg="mod">
          <ac:chgData name="Elodie Toufaili" userId="6931ca539df5403f" providerId="LiveId" clId="{890880B0-7419-4F2F-A4FC-4C691C492E84}" dt="2026-06-29T13:43:03.145" v="826" actId="1076"/>
          <ac:spMkLst>
            <pc:docMk/>
            <pc:sldMk cId="0" sldId="284"/>
            <ac:spMk id="29" creationId="{00000000-0000-0000-0000-000000000000}"/>
          </ac:spMkLst>
        </pc:spChg>
        <pc:spChg chg="add del mod">
          <ac:chgData name="Elodie Toufaili" userId="6931ca539df5403f" providerId="LiveId" clId="{890880B0-7419-4F2F-A4FC-4C691C492E84}" dt="2026-06-29T12:58:12.020" v="54" actId="478"/>
          <ac:spMkLst>
            <pc:docMk/>
            <pc:sldMk cId="0" sldId="284"/>
            <ac:spMk id="33" creationId="{532C65F6-7A73-F338-5812-777CB780BC95}"/>
          </ac:spMkLst>
        </pc:spChg>
        <pc:spChg chg="add del mod">
          <ac:chgData name="Elodie Toufaili" userId="6931ca539df5403f" providerId="LiveId" clId="{890880B0-7419-4F2F-A4FC-4C691C492E84}" dt="2026-06-29T12:58:12.807" v="55" actId="478"/>
          <ac:spMkLst>
            <pc:docMk/>
            <pc:sldMk cId="0" sldId="284"/>
            <ac:spMk id="35" creationId="{2AD201B5-9D54-9589-5DC4-40B00145D5AA}"/>
          </ac:spMkLst>
        </pc:spChg>
        <pc:spChg chg="add del mod">
          <ac:chgData name="Elodie Toufaili" userId="6931ca539df5403f" providerId="LiveId" clId="{890880B0-7419-4F2F-A4FC-4C691C492E84}" dt="2026-06-29T12:58:14.230" v="56" actId="478"/>
          <ac:spMkLst>
            <pc:docMk/>
            <pc:sldMk cId="0" sldId="284"/>
            <ac:spMk id="37" creationId="{91940361-FFB7-7224-E3C5-BCC821B3F941}"/>
          </ac:spMkLst>
        </pc:spChg>
        <pc:spChg chg="add">
          <ac:chgData name="Elodie Toufaili" userId="6931ca539df5403f" providerId="LiveId" clId="{890880B0-7419-4F2F-A4FC-4C691C492E84}" dt="2026-06-29T13:42:06.138" v="818" actId="22"/>
          <ac:spMkLst>
            <pc:docMk/>
            <pc:sldMk cId="0" sldId="284"/>
            <ac:spMk id="39" creationId="{9DB1C599-8BB3-44F6-F948-9FCF553FB885}"/>
          </ac:spMkLst>
        </pc:spChg>
        <pc:spChg chg="add">
          <ac:chgData name="Elodie Toufaili" userId="6931ca539df5403f" providerId="LiveId" clId="{890880B0-7419-4F2F-A4FC-4C691C492E84}" dt="2026-06-29T13:42:06.138" v="818" actId="22"/>
          <ac:spMkLst>
            <pc:docMk/>
            <pc:sldMk cId="0" sldId="284"/>
            <ac:spMk id="41" creationId="{23BC4EB0-4311-2318-D097-73BDE1057A55}"/>
          </ac:spMkLst>
        </pc:spChg>
        <pc:spChg chg="add mod">
          <ac:chgData name="Elodie Toufaili" userId="6931ca539df5403f" providerId="LiveId" clId="{890880B0-7419-4F2F-A4FC-4C691C492E84}" dt="2026-06-29T13:42:42.009" v="823" actId="108"/>
          <ac:spMkLst>
            <pc:docMk/>
            <pc:sldMk cId="0" sldId="284"/>
            <ac:spMk id="43" creationId="{63D0485A-A99B-B7A9-9E75-60D8E825F32F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4" creationId="{896B3CE9-FA2A-DDBE-D379-2FC1725BA79B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6" creationId="{1749274F-1747-1937-2864-2DA6DD575C70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7" creationId="{3D8F334C-B546-2B30-CACA-640B807A9D08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49" creationId="{65C071F5-0568-4E5B-0A50-69C5971436B0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4" creationId="{A5C5C1B7-8F88-07CB-D4B4-596266D9FDA7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5" creationId="{0263119E-2D23-316C-B63A-8A31C477938B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58" creationId="{539A43A7-A935-ED65-29B0-5A30752F0B9D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6" creationId="{D9B35D86-A5DF-8F7D-9BA4-CBB295F794B3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7" creationId="{C03C277D-C73D-CBA3-4330-D8D17CF74221}"/>
          </ac:spMkLst>
        </pc:spChg>
        <pc:spChg chg="add mod">
          <ac:chgData name="Elodie Toufaili" userId="6931ca539df5403f" providerId="LiveId" clId="{890880B0-7419-4F2F-A4FC-4C691C492E84}" dt="2026-06-29T13:43:44.649" v="828" actId="571"/>
          <ac:spMkLst>
            <pc:docMk/>
            <pc:sldMk cId="0" sldId="284"/>
            <ac:spMk id="68" creationId="{3570FFC3-B009-AAAA-F826-188A646332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5597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  <a:p>
            <a:r>
              <a:rPr lang="en-US" dirty="0" err="1"/>
              <a:t>Voici</a:t>
            </a:r>
            <a:r>
              <a:rPr lang="en-US" dirty="0"/>
              <a:t>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modélisation</a:t>
            </a:r>
            <a:r>
              <a:rPr lang="en-US" dirty="0"/>
              <a:t> </a:t>
            </a:r>
            <a:r>
              <a:rPr lang="en-US" dirty="0" err="1"/>
              <a:t>synthétique</a:t>
            </a:r>
            <a:r>
              <a:rPr lang="en-US" dirty="0"/>
              <a:t> du </a:t>
            </a:r>
            <a:r>
              <a:rPr lang="en-US" dirty="0" err="1"/>
              <a:t>modèle</a:t>
            </a:r>
            <a:r>
              <a:rPr lang="en-US" dirty="0"/>
              <a:t> économique des HCL de </a:t>
            </a:r>
            <a:r>
              <a:rPr lang="en-US" dirty="0" err="1"/>
              <a:t>lyon</a:t>
            </a:r>
            <a:r>
              <a:rPr lang="en-US" dirty="0"/>
              <a:t> </a:t>
            </a:r>
          </a:p>
          <a:p>
            <a:r>
              <a:rPr lang="en-US" dirty="0" err="1"/>
              <a:t>Partenaires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</a:t>
            </a:r>
            <a:r>
              <a:rPr lang="en-US" dirty="0" err="1"/>
              <a:t>Editeurs</a:t>
            </a:r>
            <a:r>
              <a:rPr lang="en-US" dirty="0"/>
              <a:t> SIH/PACS, </a:t>
            </a:r>
            <a:r>
              <a:rPr lang="en-US" dirty="0" err="1"/>
              <a:t>hébergement</a:t>
            </a:r>
            <a:r>
              <a:rPr lang="en-US" dirty="0"/>
              <a:t> de données de santé</a:t>
            </a:r>
          </a:p>
          <a:p>
            <a:r>
              <a:rPr lang="en-US" dirty="0" err="1"/>
              <a:t>Activités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</a:t>
            </a:r>
            <a:r>
              <a:rPr lang="en-US" dirty="0" err="1"/>
              <a:t>imagerie</a:t>
            </a:r>
            <a:r>
              <a:rPr lang="en-US" dirty="0"/>
              <a:t> et </a:t>
            </a:r>
            <a:r>
              <a:rPr lang="en-US" dirty="0" err="1"/>
              <a:t>biologie</a:t>
            </a:r>
            <a:r>
              <a:rPr lang="en-US" dirty="0"/>
              <a:t> </a:t>
            </a:r>
            <a:r>
              <a:rPr lang="en-US" dirty="0" err="1"/>
              <a:t>médicale</a:t>
            </a:r>
            <a:r>
              <a:rPr lang="en-US" dirty="0"/>
              <a:t>, recherche et </a:t>
            </a:r>
            <a:r>
              <a:rPr lang="en-US" dirty="0" err="1"/>
              <a:t>enseignement</a:t>
            </a:r>
            <a:endParaRPr lang="en-US" dirty="0"/>
          </a:p>
          <a:p>
            <a:r>
              <a:rPr lang="en-US" dirty="0"/>
              <a:t>Proposition de </a:t>
            </a:r>
            <a:r>
              <a:rPr lang="en-US" dirty="0" err="1"/>
              <a:t>valeur</a:t>
            </a:r>
            <a:r>
              <a:rPr lang="en-US" dirty="0"/>
              <a:t> =&gt; diagnostic </a:t>
            </a:r>
            <a:r>
              <a:rPr lang="en-US" dirty="0" err="1"/>
              <a:t>fiable</a:t>
            </a:r>
            <a:r>
              <a:rPr lang="en-US" dirty="0"/>
              <a:t> et </a:t>
            </a:r>
            <a:r>
              <a:rPr lang="en-US" dirty="0" err="1"/>
              <a:t>rapide</a:t>
            </a:r>
            <a:r>
              <a:rPr lang="en-US" dirty="0"/>
              <a:t>, innovation </a:t>
            </a:r>
            <a:r>
              <a:rPr lang="en-US" dirty="0" err="1"/>
              <a:t>médecine</a:t>
            </a:r>
            <a:r>
              <a:rPr lang="en-US" dirty="0"/>
              <a:t> de precision &amp; IA</a:t>
            </a:r>
          </a:p>
          <a:p>
            <a:r>
              <a:rPr lang="en-US" dirty="0" err="1"/>
              <a:t>Ressources</a:t>
            </a:r>
            <a:r>
              <a:rPr lang="en-US" dirty="0"/>
              <a:t> </a:t>
            </a:r>
            <a:r>
              <a:rPr lang="en-US" dirty="0" err="1"/>
              <a:t>clé</a:t>
            </a:r>
            <a:r>
              <a:rPr lang="en-US" dirty="0"/>
              <a:t> =&gt; données de santé </a:t>
            </a:r>
            <a:r>
              <a:rPr lang="en-US" dirty="0" err="1"/>
              <a:t>massives</a:t>
            </a:r>
            <a:endParaRPr lang="en-US" dirty="0"/>
          </a:p>
          <a:p>
            <a:endParaRPr lang="en-US" dirty="0"/>
          </a:p>
          <a:p>
            <a:r>
              <a:rPr lang="en-US" dirty="0"/>
              <a:t>Conclusion : double </a:t>
            </a:r>
            <a:r>
              <a:rPr lang="en-US" dirty="0" err="1"/>
              <a:t>utilité</a:t>
            </a:r>
            <a:r>
              <a:rPr lang="en-US" dirty="0"/>
              <a:t> d’un </a:t>
            </a:r>
            <a:r>
              <a:rPr lang="en-US" dirty="0" err="1"/>
              <a:t>developpement</a:t>
            </a:r>
            <a:r>
              <a:rPr lang="en-US" dirty="0"/>
              <a:t> de </a:t>
            </a:r>
            <a:r>
              <a:rPr lang="en-US" dirty="0" err="1"/>
              <a:t>projet</a:t>
            </a:r>
            <a:r>
              <a:rPr lang="en-US" dirty="0"/>
              <a:t> IA : amelioration </a:t>
            </a:r>
            <a:r>
              <a:rPr lang="en-US" dirty="0" err="1"/>
              <a:t>soins</a:t>
            </a:r>
            <a:r>
              <a:rPr lang="en-US" dirty="0"/>
              <a:t> et diagnostics + impact sur </a:t>
            </a:r>
            <a:r>
              <a:rPr lang="en-US" dirty="0" err="1"/>
              <a:t>coûts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  <a:p>
            <a:r>
              <a:rPr lang="en-US" dirty="0"/>
              <a:t>Accent sur 300 000 radios / an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0725912" cy="2468880"/>
          </a:xfrm>
          <a:prstGeom prst="roundRect">
            <a:avLst>
              <a:gd name="adj" fmla="val 4444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05840" y="16916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: CHU de Lyon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7889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Pré-lecture IA des radiographies thoraciques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72591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Louis-Bertrand DEWAS, Benoît SCHIEX, Elodie TOUFAILI</a:t>
            </a: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Encadré par : 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BOEHLER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: </a:t>
            </a:r>
            <a:r>
              <a:rPr lang="en-US" sz="14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Juin26-BMLE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Hospices Civils de Lyon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274320" y="877824"/>
            <a:ext cx="2221992" cy="4215384"/>
          </a:xfrm>
          <a:prstGeom prst="roundRect">
            <a:avLst>
              <a:gd name="adj" fmla="val 246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84048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Partenaires clés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20391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Université Claude Bernard Lyon 1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Auvergne-Rhône-Alpes, Assurance Maladie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GHT Rhône Centre, hôpitaux partenaires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INSERM / CNRS (recherche)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Éditeurs SIH / PACS (ex. Dedalus), IA médicale, fabricants d’imagerie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Hébergeurs de données de santé (HDS), Fondation HCL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9464" y="877824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679192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Activités clés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9192" y="1261872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&amp; soins (MCO, urgences)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Imagerie &amp; biologie médicale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Chirurgie, blocs opératoires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clinique &amp; enseignement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9464" y="3022092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679192" y="308610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clés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9192" y="3406140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24 000 professionnels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hôpitaux, plateau technique (scanners, IRM, automates)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de santé massives + SIH / PACS / SIL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 médicale &amp; académique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64608" y="877824"/>
            <a:ext cx="2459736" cy="4215384"/>
          </a:xfrm>
          <a:prstGeom prst="roundRect">
            <a:avLst>
              <a:gd name="adj" fmla="val 2230"/>
            </a:avLst>
          </a:prstGeom>
          <a:solidFill>
            <a:srgbClr val="D6EAEC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974336" y="941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de valeur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74336" y="1261872"/>
            <a:ext cx="2276856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Médecine de référence et d’excellence, accessible à tous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fiable et rapide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 en charge des cas complexes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: médecine de précision &amp; IA (« HCL 2035 »)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Enseignement et recherche de premier plan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97496" y="877824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507224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client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07224" y="1261872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 médecin-patient personnalisée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de soins coordonné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des usagers (CDU)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via DPI / portail patient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97496" y="3022092"/>
            <a:ext cx="2221992" cy="2071116"/>
          </a:xfrm>
          <a:prstGeom prst="roundRect">
            <a:avLst>
              <a:gd name="adj" fmla="val 264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507224" y="308610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Canaux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507224" y="3406140"/>
            <a:ext cx="2039112" cy="161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hôpitaux &amp; sites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Urgences / SAMU 69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Consultations &amp; téléconsultation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Plateformes numériques (DPI, portail), téléradiologie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692640" y="877824"/>
            <a:ext cx="2221992" cy="4215384"/>
          </a:xfrm>
          <a:prstGeom prst="roundRect">
            <a:avLst>
              <a:gd name="adj" fmla="val 2469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9802368" y="941832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de clientèle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802368" y="1261872"/>
            <a:ext cx="20391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: urgences, hospitalisés, consultations externes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prescripteurs de ville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Établissements partenaires (GHT)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Étudiants &amp; communauté de recherche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Bénéficiaires de la solution data : radiologues &amp; cliniciens (interne)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5166360"/>
            <a:ext cx="5783580" cy="141732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384048" y="5230368"/>
            <a:ext cx="5564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de coûts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84048" y="5550408"/>
            <a:ext cx="56007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 salariale ≈ 1,4 Md€ (poste principal)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Achats &amp; produits de santé (~0,6 Md€)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technique &amp; maintenance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d’information &amp; investissements (~140 M€)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1052" y="5166360"/>
            <a:ext cx="5783580" cy="1417320"/>
          </a:xfrm>
          <a:prstGeom prst="roundRect">
            <a:avLst>
              <a:gd name="adj" fmla="val 3871"/>
            </a:avLst>
          </a:prstGeom>
          <a:solidFill>
            <a:srgbClr val="EEF3F4"/>
          </a:solidFill>
          <a:ln w="127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9BB0B5">
                <a:alpha val="3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240780" y="5230368"/>
            <a:ext cx="55641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de revenus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240780" y="5550408"/>
            <a:ext cx="56007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 à l’activité (T2A) – Assurance Maladie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Dotations MIGAC / MERRI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Dotations &amp; contrats de recherche (144 M€)</a:t>
            </a:r>
            <a:endParaRPr lang="en-US" sz="950" dirty="0"/>
          </a:p>
          <a:p>
            <a:pPr marL="342900" indent="-342900" algn="l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3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Subventions État / ARS, mécénat (Fondation HCL)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74320" y="6620256"/>
            <a:ext cx="11640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6B7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Chiffres clés HCL 2024 — modèle économique d’un CHU public (établissement à mission de service public).</a:t>
            </a:r>
            <a:endParaRPr lang="en-US" sz="800" dirty="0"/>
          </a:p>
        </p:txBody>
      </p:sp>
      <p:sp>
        <p:nvSpPr>
          <p:cNvPr id="39" name="Shape 0">
            <a:extLst>
              <a:ext uri="{FF2B5EF4-FFF2-40B4-BE49-F238E27FC236}">
                <a16:creationId xmlns:a16="http://schemas.microsoft.com/office/drawing/2014/main" id="{9DB1C599-8BB3-44F6-F948-9FCF553FB885}"/>
              </a:ext>
            </a:extLst>
          </p:cNvPr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23BC4EB0-4311-2318-D097-73BDE1057A55}"/>
              </a:ext>
            </a:extLst>
          </p:cNvPr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2">
            <a:extLst>
              <a:ext uri="{FF2B5EF4-FFF2-40B4-BE49-F238E27FC236}">
                <a16:creationId xmlns:a16="http://schemas.microsoft.com/office/drawing/2014/main" id="{63D0485A-A99B-B7A9-9E75-60D8E825F32F}"/>
              </a:ext>
            </a:extLst>
          </p:cNvPr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Canvas — Hospices Civils de Lyon (CHU de Lyon)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676656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21792" y="1444752"/>
            <a:ext cx="6437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de Lyon (HCL) face à la pression diagnostique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21792" y="2340528"/>
            <a:ext cx="6492240" cy="207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2ᵉ CHU de France : 24 000 professionnels, 13 hôpitaux.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nombreuses analyses (imagerie, biologie) sont réalisées et interprétées en partie manuellement → longues et sujettes à variabilité.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demande + pénurie de radiologues : les délais s'allongent.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stratégique « HCL 2035 » mise sur l'IA et la médecine de précision.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06640" y="13258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571232" y="1444752"/>
            <a:ext cx="3968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571232" y="2340528"/>
            <a:ext cx="4023360" cy="2076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Identifier, à partir des besoins utilisateurs et des données, une problématique pertinente.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Concevoir une solution data structurée pour gagner en rapidité et en fiabilité du diagnostic.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562 678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035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examens d'imagerie / an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613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7185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9928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radiographies / an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506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24078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821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en France (2025)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63990" y="4754880"/>
            <a:ext cx="2640330" cy="1371600"/>
          </a:xfrm>
          <a:prstGeom prst="roundRect">
            <a:avLst>
              <a:gd name="adj" fmla="val 5333"/>
            </a:avLst>
          </a:prstGeom>
          <a:solidFill>
            <a:srgbClr val="E4F2F6"/>
          </a:solidFill>
          <a:ln w="12700">
            <a:solidFill>
              <a:srgbClr val="0E8FA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9109710" y="4892040"/>
            <a:ext cx="25488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0,38–0,53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137142" y="5486400"/>
            <a:ext cx="249402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kappa inter-observateur (radio)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1 : Dr Camille Rivière — Radiologue thoracique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Camille Rivière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Radiologue (PH)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44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de la Croix-Rousse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Expérience : 15 ans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 problème n'est pas de lire une radio, c'est de toutes les lire à temps, sans rien rater.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Comptes-rendus fiables et rapides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manquer aucun signe critique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les cas graves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Surcharge liée à la pénurie de radiologues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d'attente PACS non triée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→ variabilité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Délais qui s'allongent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file priorisée à l'arrivée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signes critiques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pré-lecture pour accélérer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outil intégré au PACS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CCC6FF0A-D68E-0771-7061-B5E152EC2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435189"/>
            <a:ext cx="1973804" cy="19738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Rivière (radiologue)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352735"/>
              </p:ext>
            </p:extLst>
          </p:nvPr>
        </p:nvGraphicFramePr>
        <p:xfrm>
          <a:off x="369420" y="1335024"/>
          <a:ext cx="11453772" cy="4572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Prise de poste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file PACS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difficile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Compte-rendu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 de journée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Voir la charge du jour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Repérer les urgences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Interpréter chaque radio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Trancher un doute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Restituer au clinicien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Vider la pile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non priorisée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manuel, sans indicateur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+ interruptions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 de 2ᵉ avis dispo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dictée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pile n'est jamais vide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priorisée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l’arrivée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/urgence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automatique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Pré-lecture pour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accélérer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Aide à la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critiques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remplissage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du compte-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rendu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Lissage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la charge,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moins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d’heures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supplémentaires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9476459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5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1 : Imagerie — délais &amp; variabilité de lecture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et surcharge de lecture des radiographies thoraciques ; file PACS non priorisée et variabilité inter-observateur.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 (radiologue)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Internes &amp; cliniciens prescripteurs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manuel de la file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Demandes d'avis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supplémentaires, téléradiologie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Retard de prise en charge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d'oubli de signes critiques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Épuisement des radiologues (pénurie)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278 303 radios/an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modéré : kappa 0,38–0,53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9 342 radiologues (18,7 % &gt; 65 ans)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Rapidité + fiabilité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Soulagement RH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Pré-lecture / triage IA des radiographies thoraciques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2 : Dr Karim Benali — Biologiste médical (hématologie)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Karim Benali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Biologiste médical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38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Lyon Sud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Spécialité : hématologie cellulaire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L'automate compte, mais c'est l'œil humain qui repère le blaste. En pic, la file de lames devient le goulot.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cellules pathologiques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de leucémie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 la formule leucocytaire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manuelle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Goulot quand les alarmes s'accumulent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 limitée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pré-classification des cellules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aide à la détection des cellules anormales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compte-rendu structuré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Absorber les pics d'activité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AFD1111-6E44-DDA0-7B30-13E5EDCCF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4" y="1408176"/>
            <a:ext cx="2042775" cy="20427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Benali (biologiste hématologie)</a:t>
            </a:r>
            <a:endParaRPr lang="en-US" sz="2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552955"/>
              </p:ext>
            </p:extLst>
          </p:nvPr>
        </p:nvGraphicFramePr>
        <p:xfrm>
          <a:off x="365760" y="1554480"/>
          <a:ext cx="11453772" cy="4572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Réception alarmes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de lames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suspect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 d'activité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Récupérer les frottis signalés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Organiser la relecture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Examiner la morphologie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des blastes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Valider la formule &amp; le CR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Tenir les délais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Beaucoup d'alarmes à 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trier</a:t>
                      </a: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qui s'accumule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lame par lame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Variabilité, double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Traçabilité limitée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Délai de rendu qui explose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Plutôt ok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Pré-tri des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alarmes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petinentes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Numérisation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+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pré-classement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Pré-classification IA des cellules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Aide à la detection des cellules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anormales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rendu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Absorption des pics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d’activité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122485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108192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2 : Hématologie — revue des frottis chronophage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morphologique manuelle des frottis sanguins, chronophage et variable, avec un goulot sur les cas suspects.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 (biologiste)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Techniciens de laboratoire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lecture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Priorisation manuelle des lames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Renforts en période de pic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diagnostic de leucémie dépend de la détection des cellules anormales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de fiabilité et de rapidité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15,3 M actes de biologie/an aux HCL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inter-opérateurs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Microscopie optique indispensable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Sécurisation du diagnostic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 biologiste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Pré-classification IA des cellules sur frottis numérisé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3 : Dr Sophie Marchand — Cardiologue / urgences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468880" cy="2057400"/>
          </a:xfrm>
          <a:prstGeom prst="roundRect">
            <a:avLst>
              <a:gd name="adj" fmla="val 3556"/>
            </a:avLst>
          </a:prstGeom>
          <a:solidFill>
            <a:srgbClr val="F0F4F6"/>
          </a:solidFill>
          <a:ln w="12700">
            <a:solidFill>
              <a:srgbClr val="D5DEE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688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2468880" cy="2606040"/>
          </a:xfrm>
          <a:prstGeom prst="roundRect">
            <a:avLst>
              <a:gd name="adj" fmla="val 2963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21792" y="3767328"/>
            <a:ext cx="2194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: Sophie Marchand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: Cardiologue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 : 35 ans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Lieu : Hôpital Louis Pradel (HCL)</a:t>
            </a:r>
            <a:endParaRPr lang="en-US" sz="10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: gardes urgences cardio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1371600"/>
            <a:ext cx="8622792" cy="713232"/>
          </a:xfrm>
          <a:prstGeom prst="roundRect">
            <a:avLst>
              <a:gd name="adj" fmla="val 10256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291840" y="1371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L'algorithme du chariot ECG se trompe trop souvent : il crie au loup ou il rate. Du coup je relis tout. »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08960" y="2240280"/>
            <a:ext cx="8622792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73552" y="2359152"/>
            <a:ext cx="8293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73552" y="2788920"/>
            <a:ext cx="8348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vite arythmie / infarctus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sur- ni sous-diagnostiquer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Fluidifier le tri des urgences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273552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Frustrations (pain points)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273552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Interprétations auto peu fiables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élevé en garde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chronophage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médico-légal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07224" y="3611880"/>
            <a:ext cx="4224528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671816" y="373075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671816" y="4160520"/>
            <a:ext cx="3950208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alerte IA fiable (FA, infarctus)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pré-analyse pour cibler la relecture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de criticité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priorisation des ECG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CDC203EA-0091-8286-B774-91B7D97023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96" y="1400556"/>
            <a:ext cx="1999488" cy="19994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map — Dr Marchand (cardiologue urgences)</a:t>
            </a:r>
            <a:endParaRPr lang="en-US" sz="2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942603"/>
              </p:ext>
            </p:extLst>
          </p:nvPr>
        </p:nvGraphicFramePr>
        <p:xfrm>
          <a:off x="365760" y="1554480"/>
          <a:ext cx="11453772" cy="459486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879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Arrivée patient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 auto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/ tri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en garde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Réaliser l'ECG vite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Obtenir une 1ʳᵉ lecture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Confirmer le diagnostic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Trier l'urgence vitale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Gérer plusieurs cas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rien rater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Pression temporelle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 peu fiable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Relecture intégrale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sous incertitude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cognitive élevée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Crainte de rater un infarctus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Ressenti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7C8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Tendu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Opportunités</a:t>
                      </a:r>
                      <a:r>
                        <a:rPr lang="en-US" sz="950" dirty="0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 </a:t>
                      </a:r>
                      <a:r>
                        <a:rPr lang="en-US" sz="950" dirty="0" err="1">
                          <a:solidFill>
                            <a:schemeClr val="bg1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d’amélioration</a:t>
                      </a:r>
                      <a:endParaRPr lang="en-US" sz="9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Acquisition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fluidifiée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Alerte IA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fiable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fiable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-&gt;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relecture</a:t>
                      </a: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ciblée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kern="12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de </a:t>
                      </a:r>
                      <a:r>
                        <a:rPr lang="en-US" sz="850" kern="1200" dirty="0" err="1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criticité</a:t>
                      </a: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850" kern="1200" dirty="0">
                        <a:solidFill>
                          <a:srgbClr val="33424C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340941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108192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: la friction se concentre sur le tri / la priorisation et la lecture manuelle sous charge, surtout aux pics d'activité.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3 : Cardiologie — interprétation des ECG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problème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 des ECG peu fiable en automatique, sous pression temporelle aux urgences.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concernés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081528"/>
            <a:ext cx="5166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 (cardiologue)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Médecins urgentistes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8313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contournement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123944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Relecture systématique de l'ECG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Recours à un avis senior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Sur-orientation par prudence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99632" y="1371600"/>
            <a:ext cx="553212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E2A33A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382512" y="151790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est-ce important 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382512" y="1828800"/>
            <a:ext cx="5166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Rater un infarctus = risque vital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Sur-diagnostic = lits/examens mobilisés inutilement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82512" y="2971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mesuré / estimé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82512" y="3264408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: sur-diagnostic 28 %, sous-diagnostic 17 %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: jusqu'à 98,6 % de sensibilité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82512" y="41788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créée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382512" y="4471416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plus sûr des urgences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Réduction du risque d'erreur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temps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5715000"/>
            <a:ext cx="11274552" cy="621792"/>
          </a:xfrm>
          <a:prstGeom prst="roundRect">
            <a:avLst>
              <a:gd name="adj" fmla="val 10294"/>
            </a:avLst>
          </a:prstGeom>
          <a:solidFill>
            <a:srgbClr val="E2A33A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715000"/>
            <a:ext cx="10908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possible :  </a:t>
            </a:r>
            <a:r>
              <a:rPr lang="en-US" sz="12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IA à la classification / alerte ECG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commune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7091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0807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Rivière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807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379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vite et fiable, sans rater de signe critique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5341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40283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3999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Benali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3999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8571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 diagnostic malgré le goulot des lames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533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8334756" y="146304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471916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Marchand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71916" y="1965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17636" y="22860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Trier les urgences sans erreur sous pression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017252" y="3291840"/>
            <a:ext cx="18288" cy="54864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2162556" y="3822192"/>
            <a:ext cx="7863840" cy="18288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6085332" y="3822192"/>
            <a:ext cx="18288" cy="384048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194560" y="4206240"/>
            <a:ext cx="7799832" cy="1600200"/>
          </a:xfrm>
          <a:prstGeom prst="roundRect">
            <a:avLst>
              <a:gd name="adj" fmla="val 4571"/>
            </a:avLst>
          </a:prstGeom>
          <a:solidFill>
            <a:srgbClr val="E4F2F6"/>
          </a:solidFill>
          <a:ln w="19050">
            <a:solidFill>
              <a:srgbClr val="0E8FA8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468880" y="4206240"/>
            <a:ext cx="7251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L'analyse diagnostique repose sur une lecture humaine manuelle, non priorisée et soumise à variabilité qui — à fort volume et sous tension RH — allonge les délais et fragilise la fiabilité du diagnostic.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— solutions existantes par domaine</a:t>
            </a:r>
            <a:endParaRPr lang="en-US" sz="2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374904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Acteurs / solutions clés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qu'ils font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Imagerie thoracique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Gleamer ChestView (FR), Lunit, Annalise.ai, Qure.ai, Aidoc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des signes thoraciques, triage ; marché mûr (CE/FDA)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Hématologie (frottis)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CellaVision (Sysmex), Scopio Labs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Numérisation + pré-classification des cellules ; matériel dédié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Cardiologie (ECG)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Cardiologs (Philips), AliveCor, PMcardio, Anumana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Détection d'arythmies / infarctus ; marché déjà très fourni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4360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: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l'imagerie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thoracique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 le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domaine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plus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mûr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le plus de-risqué, avec un leader français (Gleamer) déjà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déployé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routine.</a:t>
            </a:r>
            <a:endParaRPr lang="en-US" sz="1000" dirty="0"/>
          </a:p>
        </p:txBody>
      </p:sp>
      <p:sp>
        <p:nvSpPr>
          <p:cNvPr id="9" name="Text 3"/>
          <p:cNvSpPr/>
          <p:nvPr/>
        </p:nvSpPr>
        <p:spPr>
          <a:xfrm>
            <a:off x="365760" y="594360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de priorisation</a:t>
            </a:r>
            <a:endParaRPr lang="en-US" sz="2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11457432" cy="3246120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Amélioration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Satisfaction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(-)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Pré-lecture IA radios thoraciques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Pré-classification IA frottis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Aide IA interprétation ECG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120640"/>
            <a:ext cx="11457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retenu — P1 : pré-lecture IA des radios thoraciques. </a:t>
            </a:r>
            <a:r>
              <a:rPr lang="en-US" sz="115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impact maximal, alignement « HCL 2035 », effort maîtrisé (dataset public, classification d'images, benchmark mûr Gleamer).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65760" y="6035040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(Satisfaction + Valeur + Efficience + Croissance) − Effort · notes 0 à 3.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— mesure de l'impact (avant / après)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moyen de compte-rendu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24–48 h (baseline)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3822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85262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lecture par radio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66974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−30 %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85262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~3–4 min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21885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113325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 signes critiques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95037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95 %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13325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pneumothorax, foyer, nodule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49947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41387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relecture cas urgents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23099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 h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441387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PACS → relecture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678010" y="1828800"/>
            <a:ext cx="2145182" cy="2468880"/>
          </a:xfrm>
          <a:prstGeom prst="roundRect">
            <a:avLst>
              <a:gd name="adj" fmla="val 3410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9769450" y="1965960"/>
            <a:ext cx="19623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utilisateurs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51162" y="2788920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769450" y="3703320"/>
            <a:ext cx="19623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radiologues + prescripteurs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846320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1, 2 et 5 mesurent le gain opérationnel et l'adoption ; KPI 3 et 4 garantissent que la fiabilité et la sécurité ne sont pas dégradées.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— cahier des charges du produit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pré-lecture (ML)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classer la radio thoracique (normal / pneumonie / Covid) + détecter les signes critiques.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transfer learning (DenseNet / EfficientNet).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score de confiance + carte de chaleur (Grad-CAM).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au rappel : sensibilité ≥ 95 %.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&amp; restitution (PACS)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priorité → ré-ordonnancement de la worklist.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intégré au PACS (pas de nouvel outil).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du radiologue (human-in-the-loop).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 pour l'amélioration continue.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la performance et de la dérive du modèle.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clinique : faux négatifs à rejouer.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opérationnels : délais, volume, tri.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conformité (audit RGPD).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1CDC8A82-D54A-7A00-9B6B-45D0619E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37" r="10904"/>
          <a:stretch>
            <a:fillRect/>
          </a:stretch>
        </p:blipFill>
        <p:spPr>
          <a:xfrm>
            <a:off x="889154" y="3180720"/>
            <a:ext cx="2467555" cy="2788920"/>
          </a:xfrm>
          <a:prstGeom prst="rect">
            <a:avLst/>
          </a:prstGeom>
        </p:spPr>
      </p:pic>
      <p:pic>
        <p:nvPicPr>
          <p:cNvPr id="20" name="Image 19" descr="Medical Dashboard Modèles Graphiques - Envato">
            <a:extLst>
              <a:ext uri="{FF2B5EF4-FFF2-40B4-BE49-F238E27FC236}">
                <a16:creationId xmlns:a16="http://schemas.microsoft.com/office/drawing/2014/main" id="{6A541733-BF80-A094-9E53-66ADC11A9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2534" y="3402760"/>
            <a:ext cx="3287506" cy="2186609"/>
          </a:xfrm>
          <a:prstGeom prst="rect">
            <a:avLst/>
          </a:prstGeom>
        </p:spPr>
      </p:pic>
      <p:pic>
        <p:nvPicPr>
          <p:cNvPr id="21" name="Image 20" descr="Priorisation des tâches : Méthodes et bonnes pratiques">
            <a:extLst>
              <a:ext uri="{FF2B5EF4-FFF2-40B4-BE49-F238E27FC236}">
                <a16:creationId xmlns:a16="http://schemas.microsoft.com/office/drawing/2014/main" id="{043427E0-2DCD-2B0D-E789-D267D566A95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2174" t="48062" r="32000" b="10766"/>
          <a:stretch>
            <a:fillRect/>
          </a:stretch>
        </p:blipFill>
        <p:spPr>
          <a:xfrm>
            <a:off x="4792051" y="3247312"/>
            <a:ext cx="2607897" cy="249750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data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PACS (DICOM), dataset historique anonymisé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pseudonymisation, datalake HDS, versioning (DVC)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ML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CNN transfer learning, calibration, Grad-CAM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service d'inférence (API), intégration PACS + dashboard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monitoring, alertes de dérive, réentraînement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projet — Gantt (MVP ~16 semaines)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2004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7376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2748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120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3492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864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42366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96087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49808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803529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857250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910971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964692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S13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1018413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S14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solidFill>
            <a:srgbClr val="E7EDF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072134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S15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11258550" y="1417320"/>
            <a:ext cx="5372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1958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37330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42702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48074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53446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58818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64190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695629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749350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803071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856792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Shape 46"/>
          <p:cNvSpPr/>
          <p:nvPr/>
        </p:nvSpPr>
        <p:spPr>
          <a:xfrm>
            <a:off x="910513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9" name="Shape 47"/>
          <p:cNvSpPr/>
          <p:nvPr/>
        </p:nvSpPr>
        <p:spPr>
          <a:xfrm>
            <a:off x="964234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1017955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Shape 49"/>
          <p:cNvSpPr/>
          <p:nvPr/>
        </p:nvSpPr>
        <p:spPr>
          <a:xfrm>
            <a:off x="1071676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Shape 50"/>
          <p:cNvSpPr/>
          <p:nvPr/>
        </p:nvSpPr>
        <p:spPr>
          <a:xfrm>
            <a:off x="1125397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3" name="Shape 51"/>
          <p:cNvSpPr/>
          <p:nvPr/>
        </p:nvSpPr>
        <p:spPr>
          <a:xfrm>
            <a:off x="11791188" y="1691640"/>
            <a:ext cx="9144" cy="4169664"/>
          </a:xfrm>
          <a:prstGeom prst="rect">
            <a:avLst/>
          </a:prstGeom>
          <a:solidFill>
            <a:srgbClr val="E7ED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365760" y="1691640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Cadrage &amp; Données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02920" y="18745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specs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227832" y="19088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/>
          <p:nvPr/>
        </p:nvSpPr>
        <p:spPr>
          <a:xfrm>
            <a:off x="502920" y="20894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données &amp; RGPD (AIPD)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3227832" y="21236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9" name="Text 57"/>
          <p:cNvSpPr/>
          <p:nvPr/>
        </p:nvSpPr>
        <p:spPr>
          <a:xfrm>
            <a:off x="502920" y="23042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ingestion DICOM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3765042" y="233857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1" name="Text 59"/>
          <p:cNvSpPr/>
          <p:nvPr/>
        </p:nvSpPr>
        <p:spPr>
          <a:xfrm>
            <a:off x="502920" y="251917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&amp; qualité des données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4302252" y="2553462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/>
          <p:nvPr/>
        </p:nvSpPr>
        <p:spPr>
          <a:xfrm>
            <a:off x="365760" y="2734056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Modélisation MVP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2920" y="29169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dataset</a:t>
            </a:r>
            <a:endParaRPr lang="en-US" sz="780" dirty="0"/>
          </a:p>
        </p:txBody>
      </p:sp>
      <p:sp>
        <p:nvSpPr>
          <p:cNvPr id="65" name="Shape 63"/>
          <p:cNvSpPr/>
          <p:nvPr/>
        </p:nvSpPr>
        <p:spPr>
          <a:xfrm>
            <a:off x="4839462" y="29512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502920" y="31318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(transfer learning)</a:t>
            </a:r>
            <a:endParaRPr lang="en-US" sz="780" dirty="0"/>
          </a:p>
        </p:txBody>
      </p:sp>
      <p:sp>
        <p:nvSpPr>
          <p:cNvPr id="67" name="Shape 65"/>
          <p:cNvSpPr/>
          <p:nvPr/>
        </p:nvSpPr>
        <p:spPr>
          <a:xfrm>
            <a:off x="5376672" y="31661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8" name="Text 66"/>
          <p:cNvSpPr/>
          <p:nvPr/>
        </p:nvSpPr>
        <p:spPr>
          <a:xfrm>
            <a:off x="502920" y="33467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5913882" y="3380994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0" name="Text 68"/>
          <p:cNvSpPr/>
          <p:nvPr/>
        </p:nvSpPr>
        <p:spPr>
          <a:xfrm>
            <a:off x="502920" y="356158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Explicabilité (Grad-CAM)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51092" y="3595878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365760" y="37764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A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Intégration &amp; Pilote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2920" y="39593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PACS (worklist)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6988302" y="3993642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5" name="Text 73"/>
          <p:cNvSpPr/>
          <p:nvPr/>
        </p:nvSpPr>
        <p:spPr>
          <a:xfrm>
            <a:off x="502920" y="41742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7525512" y="4208526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7" name="Text 75"/>
          <p:cNvSpPr/>
          <p:nvPr/>
        </p:nvSpPr>
        <p:spPr>
          <a:xfrm>
            <a:off x="502920" y="43891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 en shadow mode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8062722" y="4423410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9" name="Text 77"/>
          <p:cNvSpPr/>
          <p:nvPr/>
        </p:nvSpPr>
        <p:spPr>
          <a:xfrm>
            <a:off x="502920" y="4604004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Ajustements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8599932" y="4638294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1" name="Text 79"/>
          <p:cNvSpPr/>
          <p:nvPr/>
        </p:nvSpPr>
        <p:spPr>
          <a:xfrm>
            <a:off x="365760" y="4818888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Déploiement &amp; Suivi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2920" y="5001768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</a:t>
            </a:r>
            <a:endParaRPr lang="en-US" sz="780" dirty="0"/>
          </a:p>
        </p:txBody>
      </p:sp>
      <p:sp>
        <p:nvSpPr>
          <p:cNvPr id="83" name="Shape 81"/>
          <p:cNvSpPr/>
          <p:nvPr/>
        </p:nvSpPr>
        <p:spPr>
          <a:xfrm>
            <a:off x="9137142" y="5036058"/>
            <a:ext cx="101955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4" name="Text 82"/>
          <p:cNvSpPr/>
          <p:nvPr/>
        </p:nvSpPr>
        <p:spPr>
          <a:xfrm>
            <a:off x="502920" y="5216652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dérive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9137142" y="5250942"/>
            <a:ext cx="209397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6" name="Text 84"/>
          <p:cNvSpPr/>
          <p:nvPr/>
        </p:nvSpPr>
        <p:spPr>
          <a:xfrm>
            <a:off x="502920" y="5431536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utilisateurs</a:t>
            </a:r>
            <a:endParaRPr lang="en-US" sz="780" dirty="0"/>
          </a:p>
        </p:txBody>
      </p:sp>
      <p:sp>
        <p:nvSpPr>
          <p:cNvPr id="87" name="Shape 85"/>
          <p:cNvSpPr/>
          <p:nvPr/>
        </p:nvSpPr>
        <p:spPr>
          <a:xfrm>
            <a:off x="9674352" y="5465826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8" name="Text 86"/>
          <p:cNvSpPr/>
          <p:nvPr/>
        </p:nvSpPr>
        <p:spPr>
          <a:xfrm>
            <a:off x="502920" y="5646420"/>
            <a:ext cx="260604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&amp; passage à l'échelle</a:t>
            </a:r>
            <a:endParaRPr lang="en-US" sz="780" dirty="0"/>
          </a:p>
        </p:txBody>
      </p:sp>
      <p:sp>
        <p:nvSpPr>
          <p:cNvPr id="89" name="Shape 87"/>
          <p:cNvSpPr/>
          <p:nvPr/>
        </p:nvSpPr>
        <p:spPr>
          <a:xfrm>
            <a:off x="11285982" y="5680710"/>
            <a:ext cx="482346" cy="146304"/>
          </a:xfrm>
          <a:prstGeom prst="roundRect">
            <a:avLst>
              <a:gd name="adj" fmla="val 1875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0" name="Shape 88"/>
          <p:cNvSpPr/>
          <p:nvPr/>
        </p:nvSpPr>
        <p:spPr>
          <a:xfrm>
            <a:off x="3657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1" name="Text 89"/>
          <p:cNvSpPr/>
          <p:nvPr/>
        </p:nvSpPr>
        <p:spPr>
          <a:xfrm>
            <a:off x="6035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21945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3" name="Text 91"/>
          <p:cNvSpPr/>
          <p:nvPr/>
        </p:nvSpPr>
        <p:spPr>
          <a:xfrm>
            <a:off x="24323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40233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2A33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5" name="Text 93"/>
          <p:cNvSpPr/>
          <p:nvPr/>
        </p:nvSpPr>
        <p:spPr>
          <a:xfrm>
            <a:off x="42611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8521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1E8E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7" name="Text 95"/>
          <p:cNvSpPr/>
          <p:nvPr/>
        </p:nvSpPr>
        <p:spPr>
          <a:xfrm>
            <a:off x="60899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680960" y="600760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9" name="Text 97"/>
          <p:cNvSpPr/>
          <p:nvPr/>
        </p:nvSpPr>
        <p:spPr>
          <a:xfrm>
            <a:off x="7918704" y="598017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 critique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— périmètre minimal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prédiction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8912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: normal / Covid /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Pneumonie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Opacité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pulmonaire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confiance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: dataset public + radios HCL anonymisées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&amp; restitution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10456" y="1920240"/>
            <a:ext cx="3422904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signes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critiques (Carte de chaleur explicative sur </a:t>
            </a:r>
            <a:r>
              <a:rPr lang="en-US" sz="1050" dirty="0" err="1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radiologue (human-in-the-loop)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de feedback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484632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490472"/>
            <a:ext cx="3368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382000" y="1920240"/>
            <a:ext cx="3404616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E8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Radio thoracique adulte, de face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 classes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Dashboard de base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Environnement pilote (1–2 services)</a:t>
            </a:r>
            <a:endParaRPr lang="en-US" sz="1100" dirty="0"/>
          </a:p>
          <a:p>
            <a:pPr marL="0" indent="0">
              <a:spcBef>
                <a:spcPts val="600"/>
              </a:spcBef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 (versions futures)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Pédiatrie ; incidence de profil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Scanner / IRM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Compte-rendu textuel complet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4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Déploiement multi-sites généralisé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MVP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663440" y="23317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DICOM / PACS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récupération de l'examen à l'arrivée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31889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240280" y="23202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423160" y="23202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public (amorçage) + radios HCL anonymisées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404622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931920" y="31775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114800" y="31775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CNN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transfer learning, inférence &lt; 1 min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738360" y="4903470"/>
            <a:ext cx="54864" cy="445770"/>
          </a:xfrm>
          <a:prstGeom prst="rect">
            <a:avLst/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623560" y="403479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806440" y="403479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&amp; calibration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sensibilité, spécificité, ECE, Grad-CAM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0" y="4892040"/>
            <a:ext cx="4206240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498080" y="48920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PACS + Dashboard  </a:t>
            </a:r>
            <a:r>
              <a:rPr lang="en-US" sz="105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worklist priorisée + supervision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Lancement — déploiement progressif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38912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— Préparation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8912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Cadrage, AIPD/RGPD, accès données, formation, identification des champions.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45864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410456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Shadow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10456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L'IA tourne en parallèle sans impacter le flux : comparaison IA vs radiologue.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17408" y="137160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382000" y="155448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Assistance active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82000" y="208483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du tri et de l'affichage une fois la sécurité démontrée (human-in-the-loop).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60092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13315C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424684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Extension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424684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 service (Croix-Rousse) vers les autres sites HCL.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1636" y="3749040"/>
            <a:ext cx="3697224" cy="2194560"/>
          </a:xfrm>
          <a:prstGeom prst="roundRect">
            <a:avLst>
              <a:gd name="adj" fmla="val 3333"/>
            </a:avLst>
          </a:prstGeom>
          <a:solidFill>
            <a:srgbClr val="0B2545"/>
          </a:solidFill>
          <a:ln/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396228" y="3931920"/>
            <a:ext cx="336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Suivi en routine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96228" y="4462272"/>
            <a:ext cx="3368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Monitoring, alertes de dérive, réentraînement, bilan qualité régulier.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communication et de formation</a:t>
            </a:r>
            <a:endParaRPr lang="en-US" sz="2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417320"/>
          <a:ext cx="11548872" cy="43891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762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de lancement &amp; démo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Chef de pôle + radiologues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Réunion + démo live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 &gt; 80 %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Identification des champions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référent + volontaires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Entretiens individuels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2 champions engagés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F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Supports + formation pratique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Radiologues, internes, manip.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 + vidéo + atelier 45 min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J-7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90 % formés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 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live — assistance active (pilote)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pilote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équipe support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 sans incident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Rituel « cas priorisés du jour »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Radiologues du service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PACS + début de shift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shifts utilisant le tri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&amp; collecte de feedback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Tous les utilisateurs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Teams/Slack dédié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S1-S6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Réponse &lt; 24 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Revue performance &amp; sécurité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Radiologue réf. + ML eng. + DPO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+ réunion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Hebdo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Sensibilité ≥ 95 %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Bilan &amp; communication résultats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CME, direction, pôle 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Présentation + note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Décision Go/No-Go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Témoignages &amp; comm interne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 des HCL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Newsletter + témoignages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S8-S10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Portée de la comm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Après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multi-sites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Autres services d'imagerie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Déploiement + formation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S10+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Nb de services déployés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6126480"/>
            <a:ext cx="11548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progressif : shadow mode (avant) → activation au Jour J → adoption (pendant) → bilan &amp; extension (après).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KPI d'adoption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577840" cy="4663440"/>
          </a:xfrm>
          <a:prstGeom prst="roundRect">
            <a:avLst>
              <a:gd name="adj" fmla="val 137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30352" y="1536192"/>
            <a:ext cx="5248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de communication &amp; formation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0352" y="1965960"/>
            <a:ext cx="5303520" cy="400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d'utilisation (PDF 2-3 pages)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démonstration (~3 min)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(fiabilité, RGPD, désaccord avec l'IA)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de prise en main (45 min, présentiel)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support dédié (Teams / Slack)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supervision (performance &amp; sécurité)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de bilan du pilote (décision d'extension)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5650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d'adoption du lancement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309360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formés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309360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90 %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57716" y="192024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9249156" y="202996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du tri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49156" y="242316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70 %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17920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09360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examens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157716" y="333756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9249156" y="344728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(CSAT)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249156" y="384048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4 / 5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217920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309360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Réactivité support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24 h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157716" y="4754880"/>
            <a:ext cx="2711196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EE3"/>
            </a:solidFill>
            <a:prstDash val="solid"/>
          </a:ln>
          <a:effectLst>
            <a:outerShdw blurRad="63500" dist="25400" dir="5400000" algn="bl" rotWithShape="0">
              <a:srgbClr val="9FB1BA">
                <a:alpha val="3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9249156" y="4864608"/>
            <a:ext cx="25283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(sites)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249156" y="5257800"/>
            <a:ext cx="25283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— cartographie multi-domaines</a:t>
            </a:r>
            <a:endParaRPr lang="en-US" sz="2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63040"/>
          <a:ext cx="11457432" cy="406908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de réduction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négatif (signe critique manqué)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haute sensibilité ; human-in-the-loop ; tests dédiés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Qualité / labels des 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Données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Contrôles qualité ; double annotation ; nettoyage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du modèle (population, appareil)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Éthique / biais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diversifié ; évaluation par sous-groupes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Dérive du modèle (drift)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/ 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+ alertes ; réentraînement périodique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Cybersécurité (données sensibles)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 SI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 ; ISO 27001 ; traitement on-premise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Sur-confiance (automation bias)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; formation ; l'IA ne décide pas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Non-conformité RGPD / dispositif médical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Réglementaire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Élevé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E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AIPD ; HDS ; marquage CE visé ; DPO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Faible adoption par les utilisateurs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Organisationnel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A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Co-construction ; champions ; intégration fluide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couverts au-delà de la seule conformité : sécurité clinique, données, modèle/ML, éthique &amp; biais, cybersécurité, facteur humain et organisationnel.  (Score = criticité × probabilité détaillé dans le doc Étape 2.)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— RGPD / AI Act</a:t>
            </a:r>
            <a:endParaRPr lang="en-US" sz="2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11457432" cy="41239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Obligation / mesure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légale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de service public / intérêt public en santé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Pseudonymisation, minimisation, durée de conservation définie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Hébergeur de données de santé (HDS), traitement on-premise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Sécurité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 / ISO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Chiffrement, ISO 27001, accès restreint, audit trail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Supervision humaine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: l'IA n'a pas de décision autonome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Biais &amp; transparence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Évaluation par sous-groupes, documentation du modèle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E8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B2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Dispositif médical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3342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Trajectoire vers le marquage CE + évaluation clinique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viser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989320"/>
            <a:ext cx="11457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 conformité : exigences RGPD couvertes (HDS, pseudonymisation, sécurité) ; AI Act : supervision humaine et transparence intégrées ; marquage CE visé pour l'usage en routine.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56032"/>
            <a:ext cx="11640312" cy="841248"/>
          </a:xfrm>
          <a:prstGeom prst="roundRect">
            <a:avLst>
              <a:gd name="adj" fmla="val 1087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475488" y="493776"/>
            <a:ext cx="310896" cy="365760"/>
          </a:xfrm>
          <a:prstGeom prst="roundRect">
            <a:avLst>
              <a:gd name="adj" fmla="val 20588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32688" y="256032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1274552" cy="4480560"/>
          </a:xfrm>
          <a:prstGeom prst="roundRect">
            <a:avLst>
              <a:gd name="adj" fmla="val 2041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phase de Discovery a révélé une tension commune sur le diagnostic au CHU :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lecture manuelle, non priorisée et variable qui allonge les délais et fragilise la fiabilité.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trois pistes (imagerie, hématologie, cardiologie), la grille de priorisation retient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pré-lecture IA des radiographies thoraciques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volume et impact maximal, alignement avec « HCL 2035 », effort maîtrisé et benchmark mûr.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MVP — un assistant intégré au PACS, </a:t>
            </a:r>
            <a:r>
              <a:rPr lang="en-US" sz="1400" b="1" dirty="0">
                <a:solidFill>
                  <a:srgbClr val="0E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conforme (RGPD, HDS, AI Act) — vise rapidité, fiabilité et priorisation des urgences, sans jamais remplacer le radiologue.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CHU dispose ainsi d'un levier concret pour sécuriser et accélérer le diagnostic thoracique, et préparer l'extension à d'autres usages data.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972800" y="65288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3200400"/>
          </a:xfrm>
          <a:prstGeom prst="roundRect">
            <a:avLst>
              <a:gd name="adj" fmla="val 3429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457200" cy="548640"/>
          </a:xfrm>
          <a:prstGeom prst="roundRect">
            <a:avLst>
              <a:gd name="adj" fmla="val 16000"/>
            </a:avLst>
          </a:prstGeom>
          <a:solidFill>
            <a:srgbClr val="0E8FA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914400" y="23774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5204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3949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DPM — CHU de Lyon · RadioPredict · Data Product Manager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3666</Words>
  <Application>Microsoft Office PowerPoint</Application>
  <PresentationFormat>Grand écran</PresentationFormat>
  <Paragraphs>783</Paragraphs>
  <Slides>28</Slides>
  <Notes>28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DPM - CHU de Lyon - RadioPredict</dc:title>
  <dc:subject>PptxGenJS Presentation</dc:subject>
  <dc:creator>Projet DPM - CHU Lyon</dc:creator>
  <cp:lastModifiedBy>Elodie Toufaili</cp:lastModifiedBy>
  <cp:revision>5</cp:revision>
  <dcterms:created xsi:type="dcterms:W3CDTF">2026-06-26T15:00:02Z</dcterms:created>
  <dcterms:modified xsi:type="dcterms:W3CDTF">2026-06-29T14:02:24Z</dcterms:modified>
</cp:coreProperties>
</file>
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0725912" cy="2468880"/>
          </a:xfrm>
          <a:prstGeom prst="roundRect">
            <a:avLst>
              <a:gd name="adj" fmla="val 4444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16916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: CHU de Lyon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RadioPredict — Pré-lecture IA des radiographies thoraciques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</a:t>
            </a:r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[Votre équipe]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 </a:t>
            </a:r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[Mentor]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: </a:t>
            </a:r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Product Manager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Hospices Civils de Lyon · 2ᵉ CHU de France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67665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44752"/>
            <a:ext cx="6437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de Lyon (HCL) face à la pression diagnostique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21792" y="1874520"/>
            <a:ext cx="649224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2ᵉ CHU de France : 24 000 professionnels, 13 hôpitaux.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nombreuses analyses (imagerie, biologie) sont réalisées et interprétées en partie manuellement → longues et sujettes à variabilité.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demande + pénurie de radiologues : les délais s'allongent.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stratégique « HCL 2035 » mise sur l'IA et la médecine de précision.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06640" y="13258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71232" y="1444752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571232" y="1874520"/>
            <a:ext cx="402336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Identifier, à partir des besoins utilisateurs et des données, une problématique pertinente.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solution data structurée pour gagner en rapidité et en fiabilité du diagnostic.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562 678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035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examens d'imagerie / 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613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7185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9928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radiographies / an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506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078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821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en France (2025)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6399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971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0,38–0,53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3714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inter-observateur (radio)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— Hospices Civils de Lyon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: urgences, hospitalisés, consultations externes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prescripteurs de ville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partenaires (GHT Rhône Centre)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&amp; communauté de recherche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 internes : radiologues &amp; cliniciens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Activités &amp; ressources clés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&amp; soins (imagerie, biologie, urgences)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clinique &amp; enseignement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24 000 professionnels · 13 hôpitaux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technique (scanners, IRM, automates)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de santé massives · PACS / SIH / SIL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&amp; coûts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à l'activité (T2A) — Assurance Maladie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Dotations MIGAC / MERRI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: 144 M€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 ≈ 1,4 Md€ (poste principal)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technique, système d'information, investissements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1 : Dr Camille Rivière — Radiologue thoracique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Camille Rivière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Radiologue (PH)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44 ans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de la Croix-Rousse (HCL)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: 15 ans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problème n'est pas de lire une radio, c'est de toutes les lire à temps, sans rien rater.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Comptes-rendus fiables et rapides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manquer aucun signe critique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cas graves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Surcharge liée à la pénurie de radiologues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PACS non triée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→ variabilité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qui s'allongent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file priorisée à l'arrivée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signes critiques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pré-lecture pour accélérer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intégré au PACS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2 : Dr Karim Benali — Biologiste médical (hématologie)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Karim Benali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Biologiste médical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38 ans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Lyon Sud (HCL)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Spécialité : hématologie cellulaire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L'automate compte, mais c'est l'œil humain qui repère le blaste. En pic, la file de lames devient le goulot.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cellules pathologiques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de leucémie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la formule leucocytaire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manuelle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Goulot quand les alarmes s'accumulent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limitée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pré-classification des cellules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cellules anormales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compte-rendu structuré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Absorber les pics d'activité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3 : Dr Sophie Marchand — Cardiologue / urgences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Sophie Marchand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Cardiologue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35 ans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Louis Pradel (HCL)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gardes urgences cardio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L'algorithme du chariot ECG se trompe trop souvent : il crie au loup ou il rate. Du coup je relis tout.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vite arythmie / infarctus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sur- ni sous-diagnostiquer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Fluidifier le tri des urgences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Interprétations auto peu fiables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élevé en garde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médico-légal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alerte IA fiable (FA, infarctus)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pré-analyse pour cibler la relecture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de criticité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priorisation des ECG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Rivière (radiologue)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87982"/>
                <a:gridCol w="1687982"/>
                <a:gridCol w="1687982"/>
                <a:gridCol w="1687982"/>
                <a:gridCol w="1687982"/>
                <a:gridCol w="168798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Prise de 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file PACS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difficile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Compte-rendu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journée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Voir la charge du jour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Repérer les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Interpréter chaque radio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Trancher un doute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Restituer au clinicien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Vider la pile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non priorisée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manuel, sans indicateur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+ interruptions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 de 2ᵉ avis dispo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dictée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pile n'est jamais vide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Benali (biologiste hématologie)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87982"/>
                <a:gridCol w="1687982"/>
                <a:gridCol w="1687982"/>
                <a:gridCol w="1687982"/>
                <a:gridCol w="1687982"/>
                <a:gridCol w="168798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Réception alarmes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de lames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suspect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 d'activité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Récupérer les frottis signalés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Organiser la relecture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Examiner la morphologie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des blastes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la formule &amp; le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Tenir les délais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Beaucoup d'alarmes à trier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qui s'accumule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lame par lame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Variabilité, double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Traçabilité limitée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rendu qui explose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Marchand (cardiologue urgences)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87982"/>
                <a:gridCol w="1687982"/>
                <a:gridCol w="1687982"/>
                <a:gridCol w="1687982"/>
                <a:gridCol w="1687982"/>
                <a:gridCol w="168798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Arrivée patient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auto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/ tri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en garde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Réaliser l'ECG vite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Obtenir une 1ʳᵉ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le diagnostic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Trier l'urgence vitale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Gérer plusieurs cas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rien rater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Pression temporelle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 peu fiable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Relecture intégrale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sous incertitude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cognitive élevée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Crainte de rater un infarctus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1 : Imagerie — délais &amp; variabilité de lecture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et surcharge de lecture des radiographies thoraciques ; file PACS non priorisée et variabilité inter-observateur.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 (radiologue)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Internes &amp; cliniciens prescripteurs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manuel de la file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supplémentaires, téléradiologie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 de prise en charge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d'oubli de signes critiques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 des radiologues (pénurie)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 radios/an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 : kappa 0,38–0,53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 radiologues (18,7 % &gt; 65 ans)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+ fiabilité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Soulagement RH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pPr algn="ctr" indent="0" marL="0">
              <a:buNone/>
            </a:pP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Pré-lecture / triage IA des radiographies thoraciques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2 : Hématologie — revue des frottis chronophage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morphologique manuelle des frottis sanguins, chronophage et variable, avec un goulot sur les cas suspects.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 (biologiste)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Techniciens de laboratoire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lecture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manuelle des lames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Renforts en période de pic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diagnostic de leucémie dépend de la détection des cellules anormales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fiabilité et de rapidité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 actes de biologie/an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Microscopie optique indispensable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Sécurisation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 biologiste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pPr algn="ctr" indent="0" marL="0">
              <a:buNone/>
            </a:pP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Pré-classification IA des cellules sur frottis numérisé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3 : Cardiologie — interprétation des ECG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des ECG peu fiable en automatique, sous pression temporelle aux urgences.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 (cardiologue)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urgentistes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de l'ECG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 à un 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Sur-orientation par prudence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Rater un infarctus = risque vital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Sur-diagnostic = lits/examens mobilisés inutilement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: sur-diagnostic 28 %, sous-diagnostic 17 %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: jusqu'à 98,6 % de sensibilité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plus sûr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du risque d'erreur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pPr algn="ctr" indent="0" marL="0">
              <a:buNone/>
            </a:pP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IA à la classification / alerte ECG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commune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7091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807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807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379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vite et fiable, sans rater de signe critique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5341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0" name="Shape 8"/>
          <p:cNvSpPr/>
          <p:nvPr/>
        </p:nvSpPr>
        <p:spPr>
          <a:xfrm>
            <a:off x="440283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3999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3999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8571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malgré le goulot des lames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533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475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7191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7191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1763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Trier les urgences sans erreur sous pression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725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20" name="Shape 18"/>
          <p:cNvSpPr/>
          <p:nvPr/>
        </p:nvSpPr>
        <p:spPr>
          <a:xfrm>
            <a:off x="2162556" y="3822192"/>
            <a:ext cx="7863840" cy="18288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5332" y="3822192"/>
            <a:ext cx="18288" cy="384048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4560" y="4206240"/>
            <a:ext cx="7799832" cy="1600200"/>
          </a:xfrm>
          <a:prstGeom prst="roundRect">
            <a:avLst>
              <a:gd name="adj" fmla="val 4571"/>
            </a:avLst>
          </a:prstGeom>
          <a:solidFill>
            <a:srgbClr val="E4F2F6"/>
          </a:solidFill>
          <a:ln w="19050">
            <a:solidFill>
              <a:srgbClr val="0E8FA8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68880" y="4206240"/>
            <a:ext cx="7251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diagnostique repose sur une lecture humaine manuelle, non priorisée et soumise à variabilité qui — à fort volume et sous tension RH — allonge les délais et fragilise la fiabilité du diagnostic.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— solutions existantes par domaine</a:t>
            </a:r>
            <a:endParaRPr lang="en-US" sz="2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43251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Acteurs / solutions clés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qu'ils font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Imagerie thoracique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Gleamer ChestView (FR), Lunit, Annalise.ai, Qure.ai, Aidoc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des signes thoraciques, triage ; marché mûr (CE/FDA)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Hématologie (frottis)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CellaVision (Sysmex), Scopio Labs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Numérisation + pré-classification des cellules ; matériel dédié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Cardiologie (ECG)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Cardiologs (Philips), AliveCor, PMcardio, Anumana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d'arythmies / infarctus ; marché déjà très fourni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4360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: l'imagerie thoracique est le domaine le plus mûr et le plus de-risqué, avec un leader français (Gleamer) déjà déployé en routine.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priorisation</a:t>
            </a:r>
            <a:endParaRPr lang="en-US" sz="2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280160"/>
                <a:gridCol w="1097280"/>
                <a:gridCol w="1280160"/>
                <a:gridCol w="1280160"/>
                <a:gridCol w="1188720"/>
                <a:gridCol w="1097280"/>
                <a:gridCol w="1188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Amélioration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(-)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Pré-lecture IA radios thoraciques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Pré-classification IA frottis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Aide IA interprétation ECG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120640"/>
            <a:ext cx="11457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— P1 : pré-lecture IA des radios thoraciques. </a:t>
            </a:r>
            <a:pPr indent="0" marL="0">
              <a:buNone/>
            </a:pPr>
            <a:r>
              <a:rPr lang="en-US" sz="11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impact maximal, alignement « HCL 2035 », effort maîtrisé (dataset public, classification d'images, benchmark mûr Gleamer).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65760" y="6035040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(Satisfaction + Valeur + Efficience + Croissance) − Effort · notes 0 à 3.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— mesure de l'impact (avant / après)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moyen de compte-rendu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24–48 h (baseline)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3822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85262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lecture par radio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66974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85262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~3–4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1885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13325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signes critiques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95037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13325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pneumothorax, foyer, nodule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49947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41387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relecture cas urgents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23099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 h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441387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PACS → relecture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67801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6945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utilisateurs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5116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76945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+ prescripteurs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1, 2 et 5 mesurent le gain opérationnel et l'adoption ; KPI 3 et 4 garantissent que la fiabilité et la sécurité ne sont pas dégradées.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cahier des charges du produit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pré-lecture (ML)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classer la radio thoracique (normal / pneumonie / Covid) + détecter les signes critiques.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transfer learning (DenseNet / EfficientNet).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score de confiance + carte de chaleur (Grad-CAM).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 rappel : sensibilité ≥ 95 %.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&amp; restitution (PACS)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priorité → ré-ordonnancement de la worklist.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intégré au PACS (pas de nouvel outil).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radiologue (human-in-the-loop).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 pour l'amélioration continue.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performance et de la dérive du modèle.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clinique : faux négatifs à rejouer.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opérationnels : délais, volume, tri.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conformité (audit RGPD).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PACS (DICOM), dataset historique anonymisé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pseudonymisation, datalake HDS, versioning (DVC)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ML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CNN transfer learning, calibration, Grad-CAM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service d'inférence (API), intégration PACS + dashboard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monitoring, alertes de dérive, réentraînement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projet — Gantt (MVP ~16 semaines)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1958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7330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39" name="Shape 37"/>
          <p:cNvSpPr/>
          <p:nvPr/>
        </p:nvSpPr>
        <p:spPr>
          <a:xfrm>
            <a:off x="42702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0" name="Shape 38"/>
          <p:cNvSpPr/>
          <p:nvPr/>
        </p:nvSpPr>
        <p:spPr>
          <a:xfrm>
            <a:off x="48074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1" name="Shape 39"/>
          <p:cNvSpPr/>
          <p:nvPr/>
        </p:nvSpPr>
        <p:spPr>
          <a:xfrm>
            <a:off x="53446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2" name="Shape 40"/>
          <p:cNvSpPr/>
          <p:nvPr/>
        </p:nvSpPr>
        <p:spPr>
          <a:xfrm>
            <a:off x="58818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3" name="Shape 41"/>
          <p:cNvSpPr/>
          <p:nvPr/>
        </p:nvSpPr>
        <p:spPr>
          <a:xfrm>
            <a:off x="64190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4" name="Shape 42"/>
          <p:cNvSpPr/>
          <p:nvPr/>
        </p:nvSpPr>
        <p:spPr>
          <a:xfrm>
            <a:off x="695629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5" name="Shape 43"/>
          <p:cNvSpPr/>
          <p:nvPr/>
        </p:nvSpPr>
        <p:spPr>
          <a:xfrm>
            <a:off x="749350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6" name="Shape 44"/>
          <p:cNvSpPr/>
          <p:nvPr/>
        </p:nvSpPr>
        <p:spPr>
          <a:xfrm>
            <a:off x="803071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7" name="Shape 45"/>
          <p:cNvSpPr/>
          <p:nvPr/>
        </p:nvSpPr>
        <p:spPr>
          <a:xfrm>
            <a:off x="85679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8" name="Shape 46"/>
          <p:cNvSpPr/>
          <p:nvPr/>
        </p:nvSpPr>
        <p:spPr>
          <a:xfrm>
            <a:off x="91051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49" name="Shape 47"/>
          <p:cNvSpPr/>
          <p:nvPr/>
        </p:nvSpPr>
        <p:spPr>
          <a:xfrm>
            <a:off x="96423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795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51" name="Shape 49"/>
          <p:cNvSpPr/>
          <p:nvPr/>
        </p:nvSpPr>
        <p:spPr>
          <a:xfrm>
            <a:off x="107167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52" name="Shape 50"/>
          <p:cNvSpPr/>
          <p:nvPr/>
        </p:nvSpPr>
        <p:spPr>
          <a:xfrm>
            <a:off x="112539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53" name="Shape 51"/>
          <p:cNvSpPr/>
          <p:nvPr/>
        </p:nvSpPr>
        <p:spPr>
          <a:xfrm>
            <a:off x="117911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1691640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Cadrage &amp; Données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2920" y="18745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specs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227832" y="19088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</p:sp>
      <p:sp>
        <p:nvSpPr>
          <p:cNvPr id="57" name="Text 55"/>
          <p:cNvSpPr/>
          <p:nvPr/>
        </p:nvSpPr>
        <p:spPr>
          <a:xfrm>
            <a:off x="502920" y="20894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données &amp; RGPD (AIPD)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3227832" y="21236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</p:sp>
      <p:sp>
        <p:nvSpPr>
          <p:cNvPr id="59" name="Text 57"/>
          <p:cNvSpPr/>
          <p:nvPr/>
        </p:nvSpPr>
        <p:spPr>
          <a:xfrm>
            <a:off x="502920" y="23042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ingestion DICOM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765042" y="233857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251917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qualité des données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4302252" y="2553462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2734056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Modélisation MVP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2920" y="29169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dataset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4839462" y="29512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</p:sp>
      <p:sp>
        <p:nvSpPr>
          <p:cNvPr id="66" name="Text 64"/>
          <p:cNvSpPr/>
          <p:nvPr/>
        </p:nvSpPr>
        <p:spPr>
          <a:xfrm>
            <a:off x="502920" y="31318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(transfer learning)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5376672" y="31661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</p:sp>
      <p:sp>
        <p:nvSpPr>
          <p:cNvPr id="68" name="Text 66"/>
          <p:cNvSpPr/>
          <p:nvPr/>
        </p:nvSpPr>
        <p:spPr>
          <a:xfrm>
            <a:off x="502920" y="33467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5913882" y="33809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</p:sp>
      <p:sp>
        <p:nvSpPr>
          <p:cNvPr id="70" name="Text 68"/>
          <p:cNvSpPr/>
          <p:nvPr/>
        </p:nvSpPr>
        <p:spPr>
          <a:xfrm>
            <a:off x="502920" y="35615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Explicabilité (Grad-CAM)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51092" y="3595878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37764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Intégration &amp; Pilote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2920" y="39593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PACS (worklist)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6988302" y="3993642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</p:sp>
      <p:sp>
        <p:nvSpPr>
          <p:cNvPr id="75" name="Text 73"/>
          <p:cNvSpPr/>
          <p:nvPr/>
        </p:nvSpPr>
        <p:spPr>
          <a:xfrm>
            <a:off x="502920" y="41742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7525512" y="42085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</p:sp>
      <p:sp>
        <p:nvSpPr>
          <p:cNvPr id="77" name="Text 75"/>
          <p:cNvSpPr/>
          <p:nvPr/>
        </p:nvSpPr>
        <p:spPr>
          <a:xfrm>
            <a:off x="502920" y="43891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en shadow mode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8062722" y="44234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</p:sp>
      <p:sp>
        <p:nvSpPr>
          <p:cNvPr id="79" name="Text 77"/>
          <p:cNvSpPr/>
          <p:nvPr/>
        </p:nvSpPr>
        <p:spPr>
          <a:xfrm>
            <a:off x="502920" y="46040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Ajustements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8599932" y="4638294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</p:sp>
      <p:sp>
        <p:nvSpPr>
          <p:cNvPr id="81" name="Text 79"/>
          <p:cNvSpPr/>
          <p:nvPr/>
        </p:nvSpPr>
        <p:spPr>
          <a:xfrm>
            <a:off x="365760" y="4818888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Déploiement &amp; Suivi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2920" y="500176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9137142" y="503605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</p:sp>
      <p:sp>
        <p:nvSpPr>
          <p:cNvPr id="84" name="Text 82"/>
          <p:cNvSpPr/>
          <p:nvPr/>
        </p:nvSpPr>
        <p:spPr>
          <a:xfrm>
            <a:off x="502920" y="52166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dérive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9137142" y="5250942"/>
            <a:ext cx="209397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</p:sp>
      <p:sp>
        <p:nvSpPr>
          <p:cNvPr id="86" name="Text 84"/>
          <p:cNvSpPr/>
          <p:nvPr/>
        </p:nvSpPr>
        <p:spPr>
          <a:xfrm>
            <a:off x="502920" y="54315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utilisateurs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9674352" y="5465826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</p:sp>
      <p:sp>
        <p:nvSpPr>
          <p:cNvPr id="88" name="Text 86"/>
          <p:cNvSpPr/>
          <p:nvPr/>
        </p:nvSpPr>
        <p:spPr>
          <a:xfrm>
            <a:off x="502920" y="56464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passage à l'échelle</a:t>
            </a:r>
            <a:endParaRPr lang="en-US" sz="780" dirty="0"/>
          </a:p>
        </p:txBody>
      </p:sp>
      <p:sp>
        <p:nvSpPr>
          <p:cNvPr id="89" name="Shape 87"/>
          <p:cNvSpPr/>
          <p:nvPr/>
        </p:nvSpPr>
        <p:spPr>
          <a:xfrm>
            <a:off x="11285982" y="5680710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</p:sp>
      <p:sp>
        <p:nvSpPr>
          <p:cNvPr id="90" name="Shape 88"/>
          <p:cNvSpPr/>
          <p:nvPr/>
        </p:nvSpPr>
        <p:spPr>
          <a:xfrm>
            <a:off x="3657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FA8"/>
          </a:solidFill>
          <a:ln/>
        </p:spPr>
      </p:sp>
      <p:sp>
        <p:nvSpPr>
          <p:cNvPr id="91" name="Text 89"/>
          <p:cNvSpPr/>
          <p:nvPr/>
        </p:nvSpPr>
        <p:spPr>
          <a:xfrm>
            <a:off x="6035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1945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3315C"/>
          </a:solidFill>
          <a:ln/>
        </p:spPr>
      </p:sp>
      <p:sp>
        <p:nvSpPr>
          <p:cNvPr id="93" name="Text 91"/>
          <p:cNvSpPr/>
          <p:nvPr/>
        </p:nvSpPr>
        <p:spPr>
          <a:xfrm>
            <a:off x="24323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40233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2A33A"/>
          </a:solidFill>
          <a:ln/>
        </p:spPr>
      </p:sp>
      <p:sp>
        <p:nvSpPr>
          <p:cNvPr id="95" name="Text 93"/>
          <p:cNvSpPr/>
          <p:nvPr/>
        </p:nvSpPr>
        <p:spPr>
          <a:xfrm>
            <a:off x="42611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8521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E8E5A"/>
          </a:solidFill>
          <a:ln/>
        </p:spPr>
      </p:sp>
      <p:sp>
        <p:nvSpPr>
          <p:cNvPr id="97" name="Text 95"/>
          <p:cNvSpPr/>
          <p:nvPr/>
        </p:nvSpPr>
        <p:spPr>
          <a:xfrm>
            <a:off x="60899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6809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99" name="Text 97"/>
          <p:cNvSpPr/>
          <p:nvPr/>
        </p:nvSpPr>
        <p:spPr>
          <a:xfrm>
            <a:off x="79187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critique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— périmètre minimal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prédiction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: normal / pneumonie / Covid-19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des signes critiques (foyer, épanchement, pneumothorax, nodule)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confiance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: dataset public + radios HCL anonymisées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restitution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Ré-ordonnancement de la worklist PACS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de chaleur explicative sur l'image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radiologue (human-in-the-loop)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0461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Radio thoracique adulte, de face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 classes + signes critiques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 worklist + dashboard de base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Environnement pilote (1–2 services)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 (versions futures)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Pédiatrie ; incidence de profil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Scanner / IRM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Compte-rendu textuel complet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Déploiement multi-sites généralisé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MVP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DICOM / PACS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récupération de l'examen à l'arrivée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public (amorçage) + radios HCL anonymisées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transfer learning, inférence &lt; 1 min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sensibilité, spécificité, ECE, Grad-CAM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PACS + Dashboard  </a:t>
            </a:r>
            <a:pPr indent="0" marL="0">
              <a:buNone/>
            </a:pP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priorisée + supervision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— déploiement progressif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38912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Préparation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Cadrage, AIPD/RGPD, accès données, formation, identification des champions.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10456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Shadow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10456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tourne en parallèle sans impacter le flux : comparaison IA vs radiologue.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2000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Assistance active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82000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du tri et de l'affichage une fois la sécurité démontrée (human-in-the-loop).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60092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24684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Extension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24684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 service (Croix-Rousse) vers les autres sites HCL.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1636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96228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Suivi en routine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6228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alertes de dérive, réentraînement, bilan qualité régulier.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communication et de formation</a:t>
            </a:r>
            <a:endParaRPr lang="en-US" sz="2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17320"/>
          <a:ext cx="115488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788920"/>
                <a:gridCol w="2514600"/>
                <a:gridCol w="2331720"/>
                <a:gridCol w="822960"/>
                <a:gridCol w="2176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de lancement &amp; démo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 de pôle + radiologues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+ démo 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 &gt; 80 %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Identification des champions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référent + volontaires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Entretiens individuels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2 champions engagés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Supports + formation pratique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Radiologues, internes, manip.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 + vidéo + atelier 45 min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formés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 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live — assistance active (pilote)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équipe support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 sans incident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Rituel « cas priorisés du jour »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 du service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début de shift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shifts utilisant le tri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&amp; collecte de feedback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 les utilisateurs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Teams/Slack dédié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Réponse &lt; 24 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performance &amp; sécurité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réf. + ML eng. + DPO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+ réunion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Hebdo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Sensibilité ≥ 95 %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 &amp; communication résultats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CME, direction, pôle 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Présentation + note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Go/No-Go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Témoignages &amp; comm interne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des HCL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Newsletter + témoignages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S8-S10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Portée de la comm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multi-sites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services d'imagerie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+ formation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 de services déployés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6126480"/>
            <a:ext cx="1154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 : shadow mode (avant) → activation au Jour J → adoption (pendant) → bilan &amp; extension (après).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KPI d'adoption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577840" cy="4663440"/>
          </a:xfrm>
          <a:prstGeom prst="roundRect">
            <a:avLst>
              <a:gd name="adj" fmla="val 137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536192"/>
            <a:ext cx="524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 communication &amp; formation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5303520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d'utilisation (PDF 2-3 pages)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démonstration (~3 min)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(fiabilité, RGPD, désaccord avec l'IA)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de prise en main (45 min, présentiel)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support dédié (Teams / Slack)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 (performance &amp; sécurité)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bilan du pilote (décision d'extension)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565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d'adoption du lancement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formés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09360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57716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49156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du tri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49156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70 %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17920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09360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examens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157716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49156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(CSAT)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249156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217920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Réactivité support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157716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sx="100000" sy="100000" kx="0" ky="0" algn="bl" rotWithShape="0" blurRad="63500" dist="25400" dir="5400000">
              <a:srgbClr val="9FB1BA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49156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(sites)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249156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— cartographie multi-domaines</a:t>
            </a:r>
            <a:endParaRPr lang="en-US" sz="2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960120"/>
                <a:gridCol w="960120"/>
                <a:gridCol w="469087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de réduction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négatif (signe critique manqué)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haute sensibilité ; human-in-the-loop ; tests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/ labels des 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Contrôles qualité ; double annotation ; nettoyage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du modèle (population, appareil)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Éthique / biais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diversifié ; évaluation par sous-groupes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Dérive du modèle (drift)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/ 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+ alertes ; réentraînement périodique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Cybersécurité (données sensibles)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 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 ; ISO 27001 ; traitement on-premise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Sur-confiance (automation bias)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; formation ; l'IA ne décide pas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Non-conformité RGPD / dispositif médical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Réglementaire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AIPD ; HDS ; marquage CE visé ; DPO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utilisateurs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Organisationnel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Co-construction ; champions ; intégration fluide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couverts au-delà de la seule conformité : sécurité clinique, données, modèle/ML, éthique &amp; biais, cybersécurité, facteur humain et organisationnel.  (Score = criticité × probabilité détaillé dans le doc Étape 2.)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— RGPD / AI Act</a:t>
            </a:r>
            <a:endParaRPr lang="en-US" sz="2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1145743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6336792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Obligation / mesure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légale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de service public / intérêt public en santé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Pseudonymisation, minimisation, durée de conservation définie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Hébergeur de données de santé (HDS), traitement on-premise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 / ISO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Chiffrement, ISO 27001, accès restreint, audit trail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humaine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: l'IA n'a pas de décision autonome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&amp; transparence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Évaluation par sous-groupes, documentation du modèle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Dispositif médical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Trajectoire vers le marquage CE + évaluation 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viser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conformité : exigences RGPD couvertes (HDS, pseudonymisation, sécurité) ; AI Act : supervision humaine et transparence intégrées ; marquage CE visé pour l'usage en routine.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phase de Discovery a révélé une tension commune sur le diagnostic au CHU :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lecture manuelle, non priorisée et variable qui allonge les délais et fragilise la fiabilité.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trois pistes (imagerie, hématologie, cardiologie), la grille de priorisation retient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pré-lecture IA des radiographies thoraciques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volume et impact maximal, alignement avec « HCL 2035 », effort maîtrisé et benchmark mûr.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MVP — un assistant intégré au PACS,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conforme (RGPD, HDS, AI Act) — vise rapidité, fiabilité et priorisation des urgences, sans jamais remplacer le radiologue.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dispose ainsi d'un levier concret pour sécuriser et accélérer le diagnostic thoracique, et préparer l'extension à d'autres usages data.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3200400"/>
          </a:xfrm>
          <a:prstGeom prst="roundRect">
            <a:avLst>
              <a:gd name="adj" fmla="val 3429"/>
            </a:avLst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21488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3949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 · Data Product Manager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DPM - CHU de Lyon - RadioPredict</dc:title>
  <dc:subject>PptxGenJS Presentation</dc:subject>
  <dc:creator>Projet DPM - CHU Lyon</dc:creator>
  <cp:lastModifiedBy>Projet DPM - CHU Lyon</cp:lastModifiedBy>
  <cp:revision>1</cp:revision>
  <dcterms:created xsi:type="dcterms:W3CDTF">2026-06-26T15:00:02Z</dcterms:created>
  <dcterms:modified xsi:type="dcterms:W3CDTF">2026-06-26T15:00:02Z</dcterms:modified>
</cp:coreProperties>
</file>